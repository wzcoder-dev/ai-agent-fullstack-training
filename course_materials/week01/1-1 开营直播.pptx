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9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04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79E0D5-B8B5-FCA2-FACB-590E576E4C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656577" y="0"/>
            <a:ext cx="3631423" cy="1054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ef5df18b94b0ded297ded87e6f85b7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914400"/>
            <a:ext cx="16002000" cy="19202"/>
          </a:xfrm>
          <a:prstGeom prst="rect">
            <a:avLst/>
          </a:prstGeom>
        </p:spPr>
      </p:pic>
      <p:pic>
        <p:nvPicPr>
          <p:cNvPr id="3" name="Image 1" descr="gen-dedup-923b8c83351cff7f6a3fb9d13de7c4ec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182405"/>
            <a:ext cx="16002000" cy="91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43000" y="3448202"/>
            <a:ext cx="16955719" cy="117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-225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如何成为 Agent 全栈工程师</a:t>
            </a:r>
            <a:endParaRPr lang="en-US" sz="90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6534302"/>
            <a:ext cx="13794638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kern="0" spc="-31" dirty="0">
                <a:solidFill>
                  <a:srgbClr val="37415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打造 AI Agent 工程师核心能力体系，从传统开发走向 AI 应用开发</a:t>
            </a:r>
            <a:endParaRPr lang="en-US" sz="3150" dirty="0"/>
          </a:p>
        </p:txBody>
      </p:sp>
      <p:sp>
        <p:nvSpPr>
          <p:cNvPr id="7" name="Text 3"/>
          <p:cNvSpPr txBox="1"/>
          <p:nvPr/>
        </p:nvSpPr>
        <p:spPr>
          <a:xfrm>
            <a:off x="16108985" y="9372600"/>
            <a:ext cx="600761" cy="200254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12</a:t>
            </a:r>
            <a:endParaRPr lang="en-US" sz="1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857500"/>
            <a:ext cx="5143500" cy="5943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857500"/>
            <a:ext cx="5143500" cy="384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6500" y="2857500"/>
            <a:ext cx="5143500" cy="5943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6286500" y="2857500"/>
            <a:ext cx="5143500" cy="3840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11305" y="2857500"/>
            <a:ext cx="5715000" cy="59436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11811305" y="2857500"/>
            <a:ext cx="5715000" cy="3840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1695" y="571500"/>
            <a:ext cx="344911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OBJECTIVES · Three Pillars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2023446" y="571500"/>
            <a:ext cx="56500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Long-Horizon Tasks × Harness × Eval &amp; Regression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181405"/>
            <a:ext cx="16764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成为全栈工程师要掌握的三大核心能力</a:t>
            </a:r>
            <a:endParaRPr lang="en-US" sz="375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2076602"/>
            <a:ext cx="1676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当下 Agent 时代的三条主线：能跑长程任务、能写出 Harness、能评测一个 Agent。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04595" y="3200400"/>
            <a:ext cx="4457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主线 01</a:t>
            </a:r>
            <a:endParaRPr lang="en-US" sz="975" dirty="0"/>
          </a:p>
        </p:txBody>
      </p:sp>
      <p:sp>
        <p:nvSpPr>
          <p:cNvPr id="14" name="Text 11"/>
          <p:cNvSpPr txBox="1"/>
          <p:nvPr/>
        </p:nvSpPr>
        <p:spPr>
          <a:xfrm>
            <a:off x="1104595" y="3514954"/>
            <a:ext cx="44577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长程任务</a:t>
            </a:r>
            <a:endParaRPr lang="en-US" sz="3150" dirty="0"/>
          </a:p>
        </p:txBody>
      </p:sp>
      <p:sp>
        <p:nvSpPr>
          <p:cNvPr id="15" name="Text 12"/>
          <p:cNvSpPr txBox="1"/>
          <p:nvPr/>
        </p:nvSpPr>
        <p:spPr>
          <a:xfrm>
            <a:off x="1104595" y="4049878"/>
            <a:ext cx="4457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Long-horizon tasks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04595" y="4461358"/>
            <a:ext cx="445770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 Agent 在几十步、上百步的链条里保持目标，</a:t>
            </a:r>
            <a:endParaRPr lang="en-US" sz="1350" dirty="0"/>
          </a:p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不会一句话之后跑偏、断链、遗忘。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104595" y="5251399"/>
            <a:ext cx="4457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毕业能力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104595" y="5537606"/>
            <a:ext cx="44577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拆解一个真实业务长任务 · 设计上下文传递与记忆策略</a:t>
            </a:r>
            <a:endParaRPr lang="en-US" sz="1275" dirty="0"/>
          </a:p>
        </p:txBody>
      </p:sp>
      <p:sp>
        <p:nvSpPr>
          <p:cNvPr id="19" name="Text 16"/>
          <p:cNvSpPr txBox="1"/>
          <p:nvPr/>
        </p:nvSpPr>
        <p:spPr>
          <a:xfrm>
            <a:off x="1104595" y="5883250"/>
            <a:ext cx="44577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写出可在生产跑多步任务的 Agent</a:t>
            </a:r>
            <a:endParaRPr lang="en-US" sz="1275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200400"/>
            <a:ext cx="44577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主线 02</a:t>
            </a:r>
            <a:endParaRPr lang="en-US" sz="975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3514954"/>
            <a:ext cx="44577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Harness</a:t>
            </a:r>
            <a:endParaRPr lang="en-US" sz="315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4049878"/>
            <a:ext cx="44577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的脚手架与执行框架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4461358"/>
            <a:ext cx="445770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不等于工程。</a:t>
            </a:r>
            <a:endParaRPr lang="en-US" sz="1350" dirty="0"/>
          </a:p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 决定 Agent 在真实环境里能不能稳定跑起来。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5251399"/>
            <a:ext cx="44577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毕业能力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5537606"/>
            <a:ext cx="44577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积累适合自己的 Harness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6629400" y="5883250"/>
            <a:ext cx="44577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工具调用 / 上下文 / 状态管理分离</a:t>
            </a:r>
            <a:endParaRPr lang="en-US" sz="1275" dirty="0"/>
          </a:p>
        </p:txBody>
      </p:sp>
      <p:sp>
        <p:nvSpPr>
          <p:cNvPr id="27" name="Text 24"/>
          <p:cNvSpPr txBox="1"/>
          <p:nvPr/>
        </p:nvSpPr>
        <p:spPr>
          <a:xfrm>
            <a:off x="12154205" y="3200400"/>
            <a:ext cx="50292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主线 03</a:t>
            </a:r>
            <a:endParaRPr lang="en-US" sz="975" dirty="0"/>
          </a:p>
        </p:txBody>
      </p:sp>
      <p:sp>
        <p:nvSpPr>
          <p:cNvPr id="28" name="Text 25"/>
          <p:cNvSpPr txBox="1"/>
          <p:nvPr/>
        </p:nvSpPr>
        <p:spPr>
          <a:xfrm>
            <a:off x="12154205" y="3514954"/>
            <a:ext cx="50292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评测</a:t>
            </a:r>
            <a:endParaRPr lang="en-US" sz="3150" dirty="0"/>
          </a:p>
        </p:txBody>
      </p:sp>
      <p:sp>
        <p:nvSpPr>
          <p:cNvPr id="29" name="Text 26"/>
          <p:cNvSpPr txBox="1"/>
          <p:nvPr/>
        </p:nvSpPr>
        <p:spPr>
          <a:xfrm>
            <a:off x="12154205" y="4049878"/>
            <a:ext cx="502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· 让 Agent 可被衡量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2154205" y="4461358"/>
            <a:ext cx="502920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没有评测，就没有"更聪明"。</a:t>
            </a:r>
            <a:endParaRPr lang="en-US" sz="1350" dirty="0"/>
          </a:p>
          <a:p>
            <a:pPr marL="0" indent="0" algn="l">
              <a:lnSpc>
                <a:spcPts val="2092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学会为 Agent 写 dataset、跑 trace、读指标。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12154205" y="5251399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毕业能力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12154205" y="5509260"/>
            <a:ext cx="50292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自己搭一份 Agent 评测集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跑出 trace + pass-rate 报告</a:t>
            </a:r>
            <a:endParaRPr lang="en-US" sz="1275" dirty="0"/>
          </a:p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用评测驱动 Harness 迭代</a:t>
            </a:r>
            <a:endParaRPr lang="en-US" sz="1275" dirty="0"/>
          </a:p>
        </p:txBody>
      </p:sp>
      <p:sp>
        <p:nvSpPr>
          <p:cNvPr id="33" name="Text 30"/>
          <p:cNvSpPr txBox="1"/>
          <p:nvPr/>
        </p:nvSpPr>
        <p:spPr>
          <a:xfrm>
            <a:off x="761695" y="9620402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PILLARS</a:t>
            </a:r>
            <a:endParaRPr lang="en-US" sz="975" dirty="0"/>
          </a:p>
        </p:txBody>
      </p:sp>
      <p:sp>
        <p:nvSpPr>
          <p:cNvPr id="34" name="Text 31"/>
          <p:cNvSpPr txBox="1"/>
          <p:nvPr/>
        </p:nvSpPr>
        <p:spPr>
          <a:xfrm>
            <a:off x="1415491" y="9620402"/>
            <a:ext cx="275325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Long-Horizon = State Machine + Replay</a:t>
            </a:r>
            <a:endParaRPr lang="en-US" sz="975" dirty="0"/>
          </a:p>
        </p:txBody>
      </p:sp>
      <p:sp>
        <p:nvSpPr>
          <p:cNvPr id="35" name="Text 32"/>
          <p:cNvSpPr txBox="1"/>
          <p:nvPr/>
        </p:nvSpPr>
        <p:spPr>
          <a:xfrm>
            <a:off x="9420149" y="9620402"/>
            <a:ext cx="24579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7126712" y="9629546"/>
            <a:ext cx="59801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13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819095"/>
            <a:ext cx="8229600" cy="2095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819095"/>
            <a:ext cx="38405" cy="20958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34195" y="2819095"/>
            <a:ext cx="8229600" cy="2095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9334195" y="2819095"/>
            <a:ext cx="38405" cy="20958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5219395"/>
            <a:ext cx="8229600" cy="2095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761695" y="5219395"/>
            <a:ext cx="38405" cy="209580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34195" y="5219395"/>
            <a:ext cx="8229600" cy="2095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7"/>
          <p:cNvSpPr/>
          <p:nvPr/>
        </p:nvSpPr>
        <p:spPr>
          <a:xfrm>
            <a:off x="9334195" y="5219395"/>
            <a:ext cx="38405" cy="209580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695" y="7619695"/>
            <a:ext cx="5372100" cy="1714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9"/>
          <p:cNvSpPr/>
          <p:nvPr/>
        </p:nvSpPr>
        <p:spPr>
          <a:xfrm>
            <a:off x="761695" y="7619695"/>
            <a:ext cx="38405" cy="1714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76695" y="7619695"/>
            <a:ext cx="5372100" cy="1714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6476695" y="7619695"/>
            <a:ext cx="38405" cy="1714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191695" y="7619695"/>
            <a:ext cx="5372100" cy="17145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13"/>
          <p:cNvSpPr/>
          <p:nvPr/>
        </p:nvSpPr>
        <p:spPr>
          <a:xfrm>
            <a:off x="12191695" y="7619695"/>
            <a:ext cx="38405" cy="1714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1695" y="571500"/>
            <a:ext cx="34774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CURRICULUM · Seven Chapters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856671" y="571500"/>
            <a:ext cx="66778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Gateway → Eval Benchmark → Production · One Backbone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1104595"/>
            <a:ext cx="16764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从"调用模型"到"交付 Agent 平台"的学习路径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761695" y="1962302"/>
            <a:ext cx="5591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 1 · 基座（Ch1 – Ch2）</a:t>
            </a:r>
            <a:endParaRPr lang="en-US" sz="975" dirty="0"/>
          </a:p>
        </p:txBody>
      </p:sp>
      <p:sp>
        <p:nvSpPr>
          <p:cNvPr id="21" name="Text 18"/>
          <p:cNvSpPr txBox="1"/>
          <p:nvPr/>
        </p:nvSpPr>
        <p:spPr>
          <a:xfrm>
            <a:off x="6349594" y="1962302"/>
            <a:ext cx="5591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17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 2 · 长程任务（Ch3 – Ch4）</a:t>
            </a:r>
            <a:endParaRPr lang="en-US" sz="975" dirty="0"/>
          </a:p>
        </p:txBody>
      </p:sp>
      <p:sp>
        <p:nvSpPr>
          <p:cNvPr id="22" name="Text 19"/>
          <p:cNvSpPr txBox="1"/>
          <p:nvPr/>
        </p:nvSpPr>
        <p:spPr>
          <a:xfrm>
            <a:off x="11938406" y="1962302"/>
            <a:ext cx="55915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75" b="1" kern="0" spc="17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 3 · 多 Agent 与生产化（Ch5 – Ch7）</a:t>
            </a:r>
            <a:endParaRPr lang="en-US" sz="975" dirty="0"/>
          </a:p>
        </p:txBody>
      </p:sp>
      <p:pic>
        <p:nvPicPr>
          <p:cNvPr id="23" name="Image 1" descr="gen-dedup-c852166db927d6e5cf4c5ac95c4656be.png"/>
          <p:cNvPicPr>
            <a:picLocks noChangeAspect="1"/>
          </p:cNvPicPr>
          <p:nvPr/>
        </p:nvPicPr>
        <p:blipFill>
          <a:blip r:embed="rId4"/>
          <a:srcRect l="-407" r="-407"/>
          <a:stretch/>
        </p:blipFill>
        <p:spPr>
          <a:xfrm>
            <a:off x="761695" y="2238451"/>
            <a:ext cx="5537606" cy="28346"/>
          </a:xfrm>
          <a:prstGeom prst="rect">
            <a:avLst/>
          </a:prstGeom>
        </p:spPr>
      </p:pic>
      <p:pic>
        <p:nvPicPr>
          <p:cNvPr id="24" name="Image 2" descr="gen-dedup-f1b7b57fa4dace756275c2b45c2ab458.png"/>
          <p:cNvPicPr>
            <a:picLocks noChangeAspect="1"/>
          </p:cNvPicPr>
          <p:nvPr/>
        </p:nvPicPr>
        <p:blipFill>
          <a:blip r:embed="rId5"/>
          <a:srcRect l="-407" r="-407"/>
          <a:stretch/>
        </p:blipFill>
        <p:spPr>
          <a:xfrm>
            <a:off x="6375197" y="2238451"/>
            <a:ext cx="5537606" cy="28346"/>
          </a:xfrm>
          <a:prstGeom prst="rect">
            <a:avLst/>
          </a:prstGeom>
        </p:spPr>
      </p:pic>
      <p:pic>
        <p:nvPicPr>
          <p:cNvPr id="25" name="Image 3" descr="gen-dedup-2b10897d05ecc4cd9139bde2fc3f7d79.png"/>
          <p:cNvPicPr>
            <a:picLocks noChangeAspect="1"/>
          </p:cNvPicPr>
          <p:nvPr/>
        </p:nvPicPr>
        <p:blipFill>
          <a:blip r:embed="rId6"/>
          <a:srcRect l="-407" r="-407"/>
          <a:stretch/>
        </p:blipFill>
        <p:spPr>
          <a:xfrm>
            <a:off x="11988698" y="2238451"/>
            <a:ext cx="5537606" cy="2834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28700" y="3029407"/>
            <a:ext cx="9436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01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7864754" y="3038551"/>
            <a:ext cx="97292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Gateway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028700" y="3238805"/>
            <a:ext cx="7658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 API、Prompt 与结构化输出</a:t>
            </a:r>
            <a:endParaRPr lang="en-US" sz="1950" dirty="0"/>
          </a:p>
        </p:txBody>
      </p:sp>
      <p:sp>
        <p:nvSpPr>
          <p:cNvPr id="29" name="Text 23"/>
          <p:cNvSpPr txBox="1"/>
          <p:nvPr/>
        </p:nvSpPr>
        <p:spPr>
          <a:xfrm>
            <a:off x="1028700" y="3580790"/>
            <a:ext cx="76581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解决"如何稳定调用模型"——为整套 Agent 平台打入口基座。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1028700" y="38816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1028700" y="40526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/ 取消 / 断点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3625596" y="38816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975" dirty="0"/>
          </a:p>
        </p:txBody>
      </p:sp>
      <p:sp>
        <p:nvSpPr>
          <p:cNvPr id="33" name="Text 27"/>
          <p:cNvSpPr txBox="1"/>
          <p:nvPr/>
        </p:nvSpPr>
        <p:spPr>
          <a:xfrm>
            <a:off x="3625596" y="40526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模板 / 注入防御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6223406" y="3881628"/>
            <a:ext cx="24670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结构化输出</a:t>
            </a:r>
            <a:endParaRPr lang="en-US" sz="975" dirty="0"/>
          </a:p>
        </p:txBody>
      </p:sp>
      <p:sp>
        <p:nvSpPr>
          <p:cNvPr id="35" name="Text 29"/>
          <p:cNvSpPr txBox="1"/>
          <p:nvPr/>
        </p:nvSpPr>
        <p:spPr>
          <a:xfrm>
            <a:off x="6223406" y="4080967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Pydantic / Schema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9601200" y="3029407"/>
            <a:ext cx="9482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02</a:t>
            </a:r>
            <a:endParaRPr lang="en-US" sz="975" dirty="0"/>
          </a:p>
        </p:txBody>
      </p:sp>
      <p:sp>
        <p:nvSpPr>
          <p:cNvPr id="37" name="Text 31"/>
          <p:cNvSpPr txBox="1"/>
          <p:nvPr/>
        </p:nvSpPr>
        <p:spPr>
          <a:xfrm>
            <a:off x="16056864" y="3038551"/>
            <a:ext cx="157368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Tool Runtime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9601200" y="3238805"/>
            <a:ext cx="7658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Function Calling、Tool Runtime 与 MCP</a:t>
            </a:r>
            <a:endParaRPr lang="en-US" sz="1950" dirty="0"/>
          </a:p>
        </p:txBody>
      </p:sp>
      <p:sp>
        <p:nvSpPr>
          <p:cNvPr id="39" name="Text 33"/>
          <p:cNvSpPr txBox="1"/>
          <p:nvPr/>
        </p:nvSpPr>
        <p:spPr>
          <a:xfrm>
            <a:off x="9601200" y="3580790"/>
            <a:ext cx="76581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注册 · 校验 · 权限 · 审计 · 超时 —— 把工具做成可治理的运行时。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9601200" y="38816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Registry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9601200" y="40526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/ 版本 / 启停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2198096" y="3881628"/>
            <a:ext cx="24670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安全边界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12198096" y="4080967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/ 高风险拦截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14795906" y="38816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</a:t>
            </a:r>
            <a:endParaRPr lang="en-US" sz="975" dirty="0"/>
          </a:p>
        </p:txBody>
      </p:sp>
      <p:sp>
        <p:nvSpPr>
          <p:cNvPr id="45" name="Text 39"/>
          <p:cNvSpPr txBox="1"/>
          <p:nvPr/>
        </p:nvSpPr>
        <p:spPr>
          <a:xfrm>
            <a:off x="14795906" y="40526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外部工具 / 资源协议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1028700" y="5429707"/>
            <a:ext cx="9482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03</a:t>
            </a:r>
            <a:endParaRPr lang="en-US" sz="975" dirty="0"/>
          </a:p>
        </p:txBody>
      </p:sp>
      <p:sp>
        <p:nvSpPr>
          <p:cNvPr id="47" name="Text 41"/>
          <p:cNvSpPr txBox="1"/>
          <p:nvPr/>
        </p:nvSpPr>
        <p:spPr>
          <a:xfrm>
            <a:off x="7669987" y="5438851"/>
            <a:ext cx="123444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Codebase Agent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1028700" y="5639105"/>
            <a:ext cx="7658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Loop、State Machine 与 Codebase Agent</a:t>
            </a:r>
            <a:endParaRPr lang="en-US" sz="1950" dirty="0"/>
          </a:p>
        </p:txBody>
      </p:sp>
      <p:sp>
        <p:nvSpPr>
          <p:cNvPr id="49" name="Text 43"/>
          <p:cNvSpPr txBox="1"/>
          <p:nvPr/>
        </p:nvSpPr>
        <p:spPr>
          <a:xfrm>
            <a:off x="1028700" y="5981090"/>
            <a:ext cx="76581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从"单轮 Tool Use"升级为可连续思考 / 执行 / 观察 / 纠错的长程任务 Agent。</a:t>
            </a:r>
            <a:endParaRPr lang="en-US" sz="1050" dirty="0"/>
          </a:p>
        </p:txBody>
      </p:sp>
      <p:sp>
        <p:nvSpPr>
          <p:cNvPr id="50" name="Text 44"/>
          <p:cNvSpPr txBox="1"/>
          <p:nvPr/>
        </p:nvSpPr>
        <p:spPr>
          <a:xfrm>
            <a:off x="1028700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Loop</a:t>
            </a:r>
            <a:endParaRPr lang="en-US" sz="975" dirty="0"/>
          </a:p>
        </p:txBody>
      </p:sp>
      <p:sp>
        <p:nvSpPr>
          <p:cNvPr id="51" name="Text 45"/>
          <p:cNvSpPr txBox="1"/>
          <p:nvPr/>
        </p:nvSpPr>
        <p:spPr>
          <a:xfrm>
            <a:off x="1028700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→ Act → Revise</a:t>
            </a:r>
            <a:endParaRPr lang="en-US" sz="1050" dirty="0"/>
          </a:p>
        </p:txBody>
      </p:sp>
      <p:sp>
        <p:nvSpPr>
          <p:cNvPr id="52" name="Text 46"/>
          <p:cNvSpPr txBox="1"/>
          <p:nvPr/>
        </p:nvSpPr>
        <p:spPr>
          <a:xfrm>
            <a:off x="3625596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975" dirty="0"/>
          </a:p>
        </p:txBody>
      </p:sp>
      <p:sp>
        <p:nvSpPr>
          <p:cNvPr id="53" name="Text 47"/>
          <p:cNvSpPr txBox="1"/>
          <p:nvPr/>
        </p:nvSpPr>
        <p:spPr>
          <a:xfrm>
            <a:off x="3625596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状态机 / 中断恢复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6223406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</a:t>
            </a:r>
            <a:endParaRPr lang="en-US" sz="975" dirty="0"/>
          </a:p>
        </p:txBody>
      </p:sp>
      <p:sp>
        <p:nvSpPr>
          <p:cNvPr id="55" name="Text 49"/>
          <p:cNvSpPr txBox="1"/>
          <p:nvPr/>
        </p:nvSpPr>
        <p:spPr>
          <a:xfrm>
            <a:off x="6223406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 / Docker 隔离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9601200" y="5429707"/>
            <a:ext cx="94823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04</a:t>
            </a:r>
            <a:endParaRPr lang="en-US" sz="975" dirty="0"/>
          </a:p>
        </p:txBody>
      </p:sp>
      <p:sp>
        <p:nvSpPr>
          <p:cNvPr id="57" name="Text 51"/>
          <p:cNvSpPr txBox="1"/>
          <p:nvPr/>
        </p:nvSpPr>
        <p:spPr>
          <a:xfrm>
            <a:off x="16348558" y="5438851"/>
            <a:ext cx="106344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54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Codebase RAG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9601200" y="5639105"/>
            <a:ext cx="76581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Context Engineering、Memory 与 Codebase RAG</a:t>
            </a:r>
            <a:endParaRPr lang="en-US" sz="1950" dirty="0"/>
          </a:p>
        </p:txBody>
      </p:sp>
      <p:sp>
        <p:nvSpPr>
          <p:cNvPr id="59" name="Text 53"/>
          <p:cNvSpPr txBox="1"/>
          <p:nvPr/>
        </p:nvSpPr>
        <p:spPr>
          <a:xfrm>
            <a:off x="9601200" y="5981090"/>
            <a:ext cx="76581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 Agent 在长链中"看到关键、遗忘冗余、按需检索"——决定 Agent 上限的不是模型。</a:t>
            </a:r>
            <a:endParaRPr lang="en-US" sz="1050" dirty="0"/>
          </a:p>
        </p:txBody>
      </p:sp>
      <p:sp>
        <p:nvSpPr>
          <p:cNvPr id="60" name="Text 54"/>
          <p:cNvSpPr txBox="1"/>
          <p:nvPr/>
        </p:nvSpPr>
        <p:spPr>
          <a:xfrm>
            <a:off x="9601200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975" dirty="0"/>
          </a:p>
        </p:txBody>
      </p:sp>
      <p:sp>
        <p:nvSpPr>
          <p:cNvPr id="61" name="Text 55"/>
          <p:cNvSpPr txBox="1"/>
          <p:nvPr/>
        </p:nvSpPr>
        <p:spPr>
          <a:xfrm>
            <a:off x="9601200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压缩 / 预算 / Debug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12198096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975" dirty="0"/>
          </a:p>
        </p:txBody>
      </p:sp>
      <p:sp>
        <p:nvSpPr>
          <p:cNvPr id="63" name="Text 57"/>
          <p:cNvSpPr txBox="1"/>
          <p:nvPr/>
        </p:nvSpPr>
        <p:spPr>
          <a:xfrm>
            <a:off x="12198096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短期 / 长期 / 项目级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14795906" y="6281928"/>
            <a:ext cx="24670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75" dirty="0"/>
          </a:p>
        </p:txBody>
      </p:sp>
      <p:sp>
        <p:nvSpPr>
          <p:cNvPr id="65" name="Text 59"/>
          <p:cNvSpPr txBox="1"/>
          <p:nvPr/>
        </p:nvSpPr>
        <p:spPr>
          <a:xfrm>
            <a:off x="14795906" y="6452921"/>
            <a:ext cx="24670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+ Rerank</a:t>
            </a:r>
            <a:endParaRPr lang="en-US" sz="1050" dirty="0"/>
          </a:p>
        </p:txBody>
      </p:sp>
      <p:sp>
        <p:nvSpPr>
          <p:cNvPr id="66" name="Text 60"/>
          <p:cNvSpPr txBox="1"/>
          <p:nvPr/>
        </p:nvSpPr>
        <p:spPr>
          <a:xfrm>
            <a:off x="1009498" y="7830007"/>
            <a:ext cx="92171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05</a:t>
            </a:r>
            <a:endParaRPr lang="en-US" sz="975" dirty="0"/>
          </a:p>
        </p:txBody>
      </p:sp>
      <p:sp>
        <p:nvSpPr>
          <p:cNvPr id="67" name="Text 61"/>
          <p:cNvSpPr txBox="1"/>
          <p:nvPr/>
        </p:nvSpPr>
        <p:spPr>
          <a:xfrm>
            <a:off x="5598871" y="7839151"/>
            <a:ext cx="33649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1009498" y="8039405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Multi-Agent、Skill 与 Agent Eval</a:t>
            </a:r>
            <a:endParaRPr lang="en-US" sz="1800" dirty="0"/>
          </a:p>
        </p:txBody>
      </p:sp>
      <p:sp>
        <p:nvSpPr>
          <p:cNvPr id="69" name="Text 63"/>
          <p:cNvSpPr txBox="1"/>
          <p:nvPr/>
        </p:nvSpPr>
        <p:spPr>
          <a:xfrm>
            <a:off x="1009498" y="8417052"/>
            <a:ext cx="483900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Supervisor / Planner–Executor / Reviewer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Skill 注册 · 检索 · 复用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benchmark + LLM-as-Judge + 回归</a:t>
            </a:r>
            <a:endParaRPr lang="en-US" sz="975" dirty="0"/>
          </a:p>
        </p:txBody>
      </p:sp>
      <p:sp>
        <p:nvSpPr>
          <p:cNvPr id="70" name="Text 64"/>
          <p:cNvSpPr txBox="1"/>
          <p:nvPr/>
        </p:nvSpPr>
        <p:spPr>
          <a:xfrm>
            <a:off x="6724498" y="7830007"/>
            <a:ext cx="92171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06</a:t>
            </a:r>
            <a:endParaRPr lang="en-US" sz="975" dirty="0"/>
          </a:p>
        </p:txBody>
      </p:sp>
      <p:sp>
        <p:nvSpPr>
          <p:cNvPr id="71" name="Text 65"/>
          <p:cNvSpPr txBox="1"/>
          <p:nvPr/>
        </p:nvSpPr>
        <p:spPr>
          <a:xfrm>
            <a:off x="10913364" y="7839151"/>
            <a:ext cx="848563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6724498" y="8039405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工程化、生产部署与可观测性</a:t>
            </a:r>
            <a:endParaRPr lang="en-US" sz="1800" dirty="0"/>
          </a:p>
        </p:txBody>
      </p:sp>
      <p:sp>
        <p:nvSpPr>
          <p:cNvPr id="73" name="Text 67"/>
          <p:cNvSpPr txBox="1"/>
          <p:nvPr/>
        </p:nvSpPr>
        <p:spPr>
          <a:xfrm>
            <a:off x="6724498" y="8417052"/>
            <a:ext cx="483900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vLLM / TGI / Triton 推理服务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Trace · Replay · 监控告警 · 成本治理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灰度 · 回滚 · MCP 部署 · Docker Compose</a:t>
            </a:r>
            <a:endParaRPr lang="en-US" sz="975" dirty="0"/>
          </a:p>
        </p:txBody>
      </p:sp>
      <p:sp>
        <p:nvSpPr>
          <p:cNvPr id="74" name="Text 68"/>
          <p:cNvSpPr txBox="1"/>
          <p:nvPr/>
        </p:nvSpPr>
        <p:spPr>
          <a:xfrm>
            <a:off x="12439498" y="7830007"/>
            <a:ext cx="91988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07</a:t>
            </a:r>
            <a:endParaRPr lang="en-US" sz="975" dirty="0"/>
          </a:p>
        </p:txBody>
      </p:sp>
      <p:sp>
        <p:nvSpPr>
          <p:cNvPr id="75" name="Text 69"/>
          <p:cNvSpPr txBox="1"/>
          <p:nvPr/>
        </p:nvSpPr>
        <p:spPr>
          <a:xfrm>
            <a:off x="16857878" y="7839151"/>
            <a:ext cx="58795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12439498" y="8039405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企业级综合项目与产品化落地</a:t>
            </a:r>
            <a:endParaRPr lang="en-US" sz="1800" dirty="0"/>
          </a:p>
        </p:txBody>
      </p:sp>
      <p:sp>
        <p:nvSpPr>
          <p:cNvPr id="77" name="Text 71"/>
          <p:cNvSpPr txBox="1"/>
          <p:nvPr/>
        </p:nvSpPr>
        <p:spPr>
          <a:xfrm>
            <a:off x="12439498" y="8417052"/>
            <a:ext cx="4839005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DeerFlow 九条核心架构线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深度研究平台 / 软件工厂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Agent 场景判断 · 简历表达 · 面试题</a:t>
            </a:r>
            <a:endParaRPr lang="en-US" sz="975" dirty="0"/>
          </a:p>
        </p:txBody>
      </p:sp>
      <p:sp>
        <p:nvSpPr>
          <p:cNvPr id="78" name="Text 72"/>
          <p:cNvSpPr txBox="1"/>
          <p:nvPr/>
        </p:nvSpPr>
        <p:spPr>
          <a:xfrm>
            <a:off x="761695" y="9620402"/>
            <a:ext cx="6007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975" dirty="0"/>
          </a:p>
        </p:txBody>
      </p:sp>
      <p:sp>
        <p:nvSpPr>
          <p:cNvPr id="79" name="Text 73"/>
          <p:cNvSpPr txBox="1"/>
          <p:nvPr/>
        </p:nvSpPr>
        <p:spPr>
          <a:xfrm>
            <a:off x="1489558" y="9620402"/>
            <a:ext cx="56491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Ch1–Ch2 Foundation · Ch3–Ch4 Long-Horizon · Ch5–Ch7 Multi-Agent &amp; Production</a:t>
            </a:r>
            <a:endParaRPr lang="en-US" sz="975" dirty="0"/>
          </a:p>
        </p:txBody>
      </p:sp>
      <p:sp>
        <p:nvSpPr>
          <p:cNvPr id="80" name="Text 74"/>
          <p:cNvSpPr txBox="1"/>
          <p:nvPr/>
        </p:nvSpPr>
        <p:spPr>
          <a:xfrm>
            <a:off x="10905134" y="9620402"/>
            <a:ext cx="24579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975" dirty="0"/>
          </a:p>
        </p:txBody>
      </p:sp>
      <p:sp>
        <p:nvSpPr>
          <p:cNvPr id="81" name="Text 75"/>
          <p:cNvSpPr txBox="1"/>
          <p:nvPr/>
        </p:nvSpPr>
        <p:spPr>
          <a:xfrm>
            <a:off x="17124883" y="9629546"/>
            <a:ext cx="59893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13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pic>
        <p:nvPicPr>
          <p:cNvPr id="3" name="Image 1" descr="gen-dedup-0c7daae20717482f9a0d5fd05a9164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305" y="2514600"/>
            <a:ext cx="12954305" cy="72867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61695" y="571500"/>
            <a:ext cx="44915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EVOLUTION · 5 Layers (Prompt→Graph)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9652406" y="571500"/>
            <a:ext cx="78775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Observe→Plan→Act→Finalize · Each Layer Solves the Prior Failure Mode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761695" y="1143000"/>
            <a:ext cx="104781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五层能力 · Agent 进化路径</a:t>
            </a:r>
            <a:endParaRPr lang="en-US" sz="345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1904695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每一层都在上一层的工程化翻车点上长出来——掌握哪一层，就过哪一关。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61695" y="2857500"/>
            <a:ext cx="267005" cy="267005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1695" y="2857500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1123798" y="2909621"/>
            <a:ext cx="47365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61695" y="4123944"/>
            <a:ext cx="267005" cy="267005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1695" y="4123944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1123798" y="4176979"/>
            <a:ext cx="37947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61695" y="5391302"/>
            <a:ext cx="267005" cy="267005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1695" y="5391302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123798" y="5443423"/>
            <a:ext cx="66019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61695" y="6657746"/>
            <a:ext cx="267005" cy="267005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1695" y="6657746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1123798" y="6710782"/>
            <a:ext cx="65653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61695" y="7925105"/>
            <a:ext cx="267005" cy="267005"/>
          </a:xfrm>
          <a:prstGeom prst="ellipse">
            <a:avLst/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61695" y="7925105"/>
            <a:ext cx="2670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123798" y="7977226"/>
            <a:ext cx="56784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5811805" y="2839212"/>
            <a:ext cx="1714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 Agent 协作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分支控制流</a:t>
            </a:r>
            <a:endParaRPr lang="en-US" sz="975" dirty="0"/>
          </a:p>
        </p:txBody>
      </p:sp>
      <p:sp>
        <p:nvSpPr>
          <p:cNvPr id="24" name="Text 20"/>
          <p:cNvSpPr txBox="1"/>
          <p:nvPr/>
        </p:nvSpPr>
        <p:spPr>
          <a:xfrm>
            <a:off x="15811805" y="4080053"/>
            <a:ext cx="1714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长程迭代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失败恢复</a:t>
            </a:r>
            <a:endParaRPr lang="en-US" sz="975" dirty="0"/>
          </a:p>
        </p:txBody>
      </p:sp>
      <p:sp>
        <p:nvSpPr>
          <p:cNvPr id="25" name="Text 21"/>
          <p:cNvSpPr txBox="1"/>
          <p:nvPr/>
        </p:nvSpPr>
        <p:spPr>
          <a:xfrm>
            <a:off x="15811805" y="5320894"/>
            <a:ext cx="1714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运行框架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 / 状态 / Sandbox</a:t>
            </a:r>
            <a:endParaRPr lang="en-US" sz="975" dirty="0"/>
          </a:p>
        </p:txBody>
      </p:sp>
      <p:sp>
        <p:nvSpPr>
          <p:cNvPr id="26" name="Text 22"/>
          <p:cNvSpPr txBox="1"/>
          <p:nvPr/>
        </p:nvSpPr>
        <p:spPr>
          <a:xfrm>
            <a:off x="15811805" y="6560820"/>
            <a:ext cx="1714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可见信息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压缩 / 检索 / 记忆</a:t>
            </a:r>
            <a:endParaRPr lang="en-US" sz="975" dirty="0"/>
          </a:p>
        </p:txBody>
      </p:sp>
      <p:sp>
        <p:nvSpPr>
          <p:cNvPr id="27" name="Text 23"/>
          <p:cNvSpPr txBox="1"/>
          <p:nvPr/>
        </p:nvSpPr>
        <p:spPr>
          <a:xfrm>
            <a:off x="15811805" y="7801661"/>
            <a:ext cx="171450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指令基座</a:t>
            </a:r>
            <a:endParaRPr lang="en-US" sz="97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· 结构化</a:t>
            </a:r>
            <a:endParaRPr lang="en-US" sz="975" dirty="0"/>
          </a:p>
        </p:txBody>
      </p:sp>
      <p:sp>
        <p:nvSpPr>
          <p:cNvPr id="28" name="Shape 24"/>
          <p:cNvSpPr/>
          <p:nvPr/>
        </p:nvSpPr>
        <p:spPr>
          <a:xfrm>
            <a:off x="761695" y="8572500"/>
            <a:ext cx="5438851" cy="12289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5"/>
          <p:cNvSpPr/>
          <p:nvPr/>
        </p:nvSpPr>
        <p:spPr>
          <a:xfrm>
            <a:off x="761695" y="8572500"/>
            <a:ext cx="38405" cy="122895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09498" y="8744407"/>
            <a:ext cx="49816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1 道翻车点</a:t>
            </a:r>
            <a:endParaRPr lang="en-US" sz="825" dirty="0"/>
          </a:p>
        </p:txBody>
      </p:sp>
      <p:sp>
        <p:nvSpPr>
          <p:cNvPr id="31" name="Text 27"/>
          <p:cNvSpPr txBox="1"/>
          <p:nvPr/>
        </p:nvSpPr>
        <p:spPr>
          <a:xfrm>
            <a:off x="1009498" y="8934602"/>
            <a:ext cx="49816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 写得很漂亮，真任务反复提示。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1009498" y="9225382"/>
            <a:ext cx="4981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必须升级到 Context Engineering：让 Agent 看到关键、按需检索。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6426403" y="8572500"/>
            <a:ext cx="5438851" cy="12289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Shape 30"/>
          <p:cNvSpPr/>
          <p:nvPr/>
        </p:nvSpPr>
        <p:spPr>
          <a:xfrm>
            <a:off x="6426403" y="8572500"/>
            <a:ext cx="38405" cy="122895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674206" y="8744407"/>
            <a:ext cx="49816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2 道翻车点</a:t>
            </a:r>
            <a:endParaRPr lang="en-US" sz="825" dirty="0"/>
          </a:p>
        </p:txBody>
      </p:sp>
      <p:sp>
        <p:nvSpPr>
          <p:cNvPr id="36" name="Text 32"/>
          <p:cNvSpPr txBox="1"/>
          <p:nvPr/>
        </p:nvSpPr>
        <p:spPr>
          <a:xfrm>
            <a:off x="6674206" y="8934602"/>
            <a:ext cx="49816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 + 上下文都堆上，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还是乱跑、不可恢复。</a:t>
            </a:r>
            <a:endParaRPr lang="en-US" sz="1350" dirty="0"/>
          </a:p>
        </p:txBody>
      </p:sp>
      <p:sp>
        <p:nvSpPr>
          <p:cNvPr id="37" name="Text 33"/>
          <p:cNvSpPr txBox="1"/>
          <p:nvPr/>
        </p:nvSpPr>
        <p:spPr>
          <a:xfrm>
            <a:off x="6674206" y="9439351"/>
            <a:ext cx="4981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升级到 Harness · Loop：状态机、Checkpoint、Sandbox、错误恢复。</a:t>
            </a:r>
            <a:endParaRPr lang="en-US" sz="975" dirty="0"/>
          </a:p>
        </p:txBody>
      </p:sp>
      <p:sp>
        <p:nvSpPr>
          <p:cNvPr id="38" name="Shape 34"/>
          <p:cNvSpPr/>
          <p:nvPr/>
        </p:nvSpPr>
        <p:spPr>
          <a:xfrm>
            <a:off x="12090197" y="8572500"/>
            <a:ext cx="5438851" cy="12289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9" name="Shape 35"/>
          <p:cNvSpPr/>
          <p:nvPr/>
        </p:nvSpPr>
        <p:spPr>
          <a:xfrm>
            <a:off x="12090197" y="8572500"/>
            <a:ext cx="38405" cy="122895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2337999" y="8744407"/>
            <a:ext cx="49816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 3 道翻车点</a:t>
            </a:r>
            <a:endParaRPr lang="en-US" sz="825" dirty="0"/>
          </a:p>
        </p:txBody>
      </p:sp>
      <p:sp>
        <p:nvSpPr>
          <p:cNvPr id="41" name="Text 37"/>
          <p:cNvSpPr txBox="1"/>
          <p:nvPr/>
        </p:nvSpPr>
        <p:spPr>
          <a:xfrm>
            <a:off x="12337999" y="9225382"/>
            <a:ext cx="4981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升级到 Graph Engineering：多 Agent · 分支 · 并行 · 结果聚合。</a:t>
            </a:r>
            <a:endParaRPr lang="en-US" sz="975" dirty="0"/>
          </a:p>
        </p:txBody>
      </p:sp>
      <p:sp>
        <p:nvSpPr>
          <p:cNvPr id="42" name="Text 38"/>
          <p:cNvSpPr txBox="1"/>
          <p:nvPr/>
        </p:nvSpPr>
        <p:spPr>
          <a:xfrm>
            <a:off x="12337999" y="8915400"/>
            <a:ext cx="256397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单 Agent 角色冲突，复杂任务</a:t>
            </a:r>
            <a:endParaRPr lang="en-US" sz="1350" dirty="0"/>
          </a:p>
        </p:txBody>
      </p:sp>
      <p:sp>
        <p:nvSpPr>
          <p:cNvPr id="43" name="Text 39"/>
          <p:cNvSpPr txBox="1"/>
          <p:nvPr/>
        </p:nvSpPr>
        <p:spPr>
          <a:xfrm>
            <a:off x="14614855" y="8915400"/>
            <a:ext cx="857707" cy="238658"/>
          </a:xfrm>
          <a:prstGeom prst="rect">
            <a:avLst/>
          </a:prstGeom>
          <a:solidFill>
            <a:srgbClr val="F9FA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注意力稀释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5472562" y="8915400"/>
            <a:ext cx="21945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。</a:t>
            </a:r>
            <a:endParaRPr lang="en-US" sz="1350" dirty="0"/>
          </a:p>
        </p:txBody>
      </p:sp>
      <p:sp>
        <p:nvSpPr>
          <p:cNvPr id="45" name="Text 41"/>
          <p:cNvSpPr txBox="1"/>
          <p:nvPr/>
        </p:nvSpPr>
        <p:spPr>
          <a:xfrm>
            <a:off x="761695" y="9924898"/>
            <a:ext cx="6483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LATTICE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1535278" y="9924898"/>
            <a:ext cx="63157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&lt; Context &lt; Harness &lt; Loop &lt; Graph · additive, not replacement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10931652" y="99248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17036186" y="9934956"/>
            <a:ext cx="5897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pic>
        <p:nvPicPr>
          <p:cNvPr id="3" name="Image 1" descr="gen-dedup-c0df086ebaf44de84350acf75f824891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761695" y="2553005"/>
            <a:ext cx="8191195" cy="19202"/>
          </a:xfrm>
          <a:prstGeom prst="rect">
            <a:avLst/>
          </a:prstGeom>
        </p:spPr>
      </p:pic>
      <p:pic>
        <p:nvPicPr>
          <p:cNvPr id="4" name="Image 2" descr="gen-dedup-abf2d7c0486297a6a1666b07e39249a3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9334195" y="2553005"/>
            <a:ext cx="8191195" cy="192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61695" y="571500"/>
            <a:ext cx="356524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LEARNING-PATHS · Two Tracks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9997135" y="571500"/>
            <a:ext cx="75346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Capability Depth (Prompt→Graph) × Engineering Depth (around Loop)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同一条主线 · 两种走法 · 你选一条</a:t>
            </a:r>
            <a:endParaRPr lang="en-US" sz="3450" dirty="0"/>
          </a:p>
        </p:txBody>
      </p:sp>
      <p:sp>
        <p:nvSpPr>
          <p:cNvPr id="8" name="Text 3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一条沿能力纵深铺开（Prompt → Graph），一条沿工程纵深绕着 Loop 转。拆出"能力点"与"工程点"两端。</a:t>
            </a:r>
            <a:endParaRPr lang="en-US" sz="135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270479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A · 能力纵深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2971800"/>
            <a:ext cx="8192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从 Prompt 到 Graph Engineering · 让Agent 越"聪明"</a:t>
            </a:r>
            <a:endParaRPr lang="en-US" sz="1800" dirty="0"/>
          </a:p>
        </p:txBody>
      </p:sp>
      <p:pic>
        <p:nvPicPr>
          <p:cNvPr id="11" name="Image 3" descr="gen-dedup-baf208fdd1a62216d47cff63c94c42bb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761695" y="3504895"/>
            <a:ext cx="8191195" cy="49533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334195" y="270479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B · 工程纵深</a:t>
            </a:r>
            <a:endParaRPr lang="en-US" sz="975" dirty="0"/>
          </a:p>
        </p:txBody>
      </p:sp>
      <p:sp>
        <p:nvSpPr>
          <p:cNvPr id="13" name="Text 7"/>
          <p:cNvSpPr txBox="1"/>
          <p:nvPr/>
        </p:nvSpPr>
        <p:spPr>
          <a:xfrm>
            <a:off x="9334195" y="2971800"/>
            <a:ext cx="8192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围绕 Loop 不断迭代 · 让 Agent 越"靠谱"</a:t>
            </a:r>
            <a:endParaRPr lang="en-US" sz="1800" dirty="0"/>
          </a:p>
        </p:txBody>
      </p:sp>
      <p:pic>
        <p:nvPicPr>
          <p:cNvPr id="14" name="Image 4" descr="gen-dedup-99454e17fd3909ebec7bd6d1af9fd83c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9334195" y="3504895"/>
            <a:ext cx="8191195" cy="49533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61695" y="8667598"/>
            <a:ext cx="8248802" cy="9902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9"/>
          <p:cNvSpPr/>
          <p:nvPr/>
        </p:nvSpPr>
        <p:spPr>
          <a:xfrm>
            <a:off x="761695" y="8667598"/>
            <a:ext cx="38405" cy="99029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1009498" y="8839505"/>
            <a:ext cx="77916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路径 A 适合</a:t>
            </a:r>
            <a:endParaRPr lang="en-US" sz="825" dirty="0"/>
          </a:p>
        </p:txBody>
      </p:sp>
      <p:sp>
        <p:nvSpPr>
          <p:cNvPr id="18" name="Text 11"/>
          <p:cNvSpPr txBox="1"/>
          <p:nvPr/>
        </p:nvSpPr>
        <p:spPr>
          <a:xfrm>
            <a:off x="1009498" y="9029700"/>
            <a:ext cx="77916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想从单条 Prompt 起步，看到 Agent 越用越聪明</a:t>
            </a:r>
            <a:endParaRPr lang="en-US" sz="1275" dirty="0"/>
          </a:p>
        </p:txBody>
      </p:sp>
      <p:sp>
        <p:nvSpPr>
          <p:cNvPr id="19" name="Text 12"/>
          <p:cNvSpPr txBox="1"/>
          <p:nvPr/>
        </p:nvSpPr>
        <p:spPr>
          <a:xfrm>
            <a:off x="1009498" y="9297619"/>
            <a:ext cx="77916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侧重：能力跃迁 · 单任务体验 。</a:t>
            </a:r>
            <a:endParaRPr lang="en-US" sz="975" dirty="0"/>
          </a:p>
        </p:txBody>
      </p:sp>
      <p:sp>
        <p:nvSpPr>
          <p:cNvPr id="20" name="Shape 13"/>
          <p:cNvSpPr/>
          <p:nvPr/>
        </p:nvSpPr>
        <p:spPr>
          <a:xfrm>
            <a:off x="9277502" y="8667598"/>
            <a:ext cx="8248802" cy="9902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4"/>
          <p:cNvSpPr/>
          <p:nvPr/>
        </p:nvSpPr>
        <p:spPr>
          <a:xfrm>
            <a:off x="9277502" y="8667598"/>
            <a:ext cx="38405" cy="99029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9525305" y="8839505"/>
            <a:ext cx="77916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路径 B 适合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9525305" y="9029700"/>
            <a:ext cx="77916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想给 Agent 搭出生产级底座，让它越用越靠谱</a:t>
            </a:r>
            <a:endParaRPr lang="en-US" sz="1275" dirty="0"/>
          </a:p>
        </p:txBody>
      </p:sp>
      <p:sp>
        <p:nvSpPr>
          <p:cNvPr id="24" name="Text 17"/>
          <p:cNvSpPr txBox="1"/>
          <p:nvPr/>
        </p:nvSpPr>
        <p:spPr>
          <a:xfrm>
            <a:off x="9525305" y="9297619"/>
            <a:ext cx="77916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侧重：工程底座 · Loop 自治 · Eval &amp; Replay，作品集 = Agent Engineering Platform。</a:t>
            </a:r>
            <a:endParaRPr lang="en-US" sz="975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9924898"/>
            <a:ext cx="5532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443838" y="9924898"/>
            <a:ext cx="5306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= Upper Slope · B = Loop Orbit · share Ch1–Ch7 textbooks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0381183" y="99248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7031614" y="9934956"/>
            <a:ext cx="5897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000707"/>
            <a:ext cx="16802100" cy="8385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000707"/>
            <a:ext cx="38405" cy="8385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3066898"/>
            <a:ext cx="5495544" cy="318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0" y="3066898"/>
            <a:ext cx="5495544" cy="318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39905" y="3066898"/>
            <a:ext cx="5505602" cy="318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6381598"/>
            <a:ext cx="5495544" cy="318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6381598"/>
            <a:ext cx="5495544" cy="318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39905" y="6381598"/>
            <a:ext cx="5486400" cy="3161995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gen-dedup-b96b75725c394580cfb14fb822c7304e.png"/>
          <p:cNvPicPr>
            <a:picLocks noChangeAspect="1"/>
          </p:cNvPicPr>
          <p:nvPr/>
        </p:nvPicPr>
        <p:blipFill>
          <a:blip r:embed="rId4"/>
          <a:srcRect l="-405" r="-405"/>
          <a:stretch/>
        </p:blipFill>
        <p:spPr>
          <a:xfrm>
            <a:off x="761695" y="3066898"/>
            <a:ext cx="38405" cy="3161995"/>
          </a:xfrm>
          <a:prstGeom prst="rect">
            <a:avLst/>
          </a:prstGeom>
        </p:spPr>
      </p:pic>
      <p:pic>
        <p:nvPicPr>
          <p:cNvPr id="12" name="Image 2" descr="gen-dedup-b96b75725c394580cfb14fb822c7304e.png"/>
          <p:cNvPicPr>
            <a:picLocks noChangeAspect="1"/>
          </p:cNvPicPr>
          <p:nvPr/>
        </p:nvPicPr>
        <p:blipFill>
          <a:blip r:embed="rId4"/>
          <a:srcRect l="-405" r="-405"/>
          <a:stretch/>
        </p:blipFill>
        <p:spPr>
          <a:xfrm>
            <a:off x="6400800" y="3066898"/>
            <a:ext cx="38405" cy="3161995"/>
          </a:xfrm>
          <a:prstGeom prst="rect">
            <a:avLst/>
          </a:prstGeom>
        </p:spPr>
      </p:pic>
      <p:pic>
        <p:nvPicPr>
          <p:cNvPr id="13" name="Image 3" descr="gen-dedup-b96b75725c394580cfb14fb822c7304e.png"/>
          <p:cNvPicPr>
            <a:picLocks noChangeAspect="1"/>
          </p:cNvPicPr>
          <p:nvPr/>
        </p:nvPicPr>
        <p:blipFill>
          <a:blip r:embed="rId4"/>
          <a:srcRect l="-405" r="-405"/>
          <a:stretch/>
        </p:blipFill>
        <p:spPr>
          <a:xfrm>
            <a:off x="12039905" y="3066898"/>
            <a:ext cx="38405" cy="3161995"/>
          </a:xfrm>
          <a:prstGeom prst="rect">
            <a:avLst/>
          </a:prstGeom>
        </p:spPr>
      </p:pic>
      <p:pic>
        <p:nvPicPr>
          <p:cNvPr id="14" name="Image 4" descr="gen-dedup-b96b75725c394580cfb14fb822c7304e.png"/>
          <p:cNvPicPr>
            <a:picLocks noChangeAspect="1"/>
          </p:cNvPicPr>
          <p:nvPr/>
        </p:nvPicPr>
        <p:blipFill>
          <a:blip r:embed="rId4"/>
          <a:srcRect l="-405" r="-405"/>
          <a:stretch/>
        </p:blipFill>
        <p:spPr>
          <a:xfrm>
            <a:off x="761695" y="6381598"/>
            <a:ext cx="38405" cy="3161995"/>
          </a:xfrm>
          <a:prstGeom prst="rect">
            <a:avLst/>
          </a:prstGeom>
        </p:spPr>
      </p:pic>
      <p:pic>
        <p:nvPicPr>
          <p:cNvPr id="15" name="Image 5" descr="gen-dedup-b96b75725c394580cfb14fb822c7304e.png"/>
          <p:cNvPicPr>
            <a:picLocks noChangeAspect="1"/>
          </p:cNvPicPr>
          <p:nvPr/>
        </p:nvPicPr>
        <p:blipFill>
          <a:blip r:embed="rId4"/>
          <a:srcRect l="-405" r="-405"/>
          <a:stretch/>
        </p:blipFill>
        <p:spPr>
          <a:xfrm>
            <a:off x="6400800" y="6381598"/>
            <a:ext cx="38405" cy="31619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61695" y="571500"/>
            <a:ext cx="25017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CH01 · LLM Gateway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9844430" y="571500"/>
            <a:ext cx="785012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Compatible · Streaming · Structured Output · Prompt Template</a:t>
            </a:r>
            <a:endParaRPr lang="en-US" sz="120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1162202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 API 调用，你该掌握哪些详细知识点</a:t>
            </a:r>
            <a:endParaRPr lang="en-US" sz="3450" dirty="0"/>
          </a:p>
        </p:txBody>
      </p:sp>
      <p:sp>
        <p:nvSpPr>
          <p:cNvPr id="19" name="Text 11"/>
          <p:cNvSpPr txBox="1"/>
          <p:nvPr/>
        </p:nvSpPr>
        <p:spPr>
          <a:xfrm>
            <a:off x="990295" y="2198218"/>
            <a:ext cx="58155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5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本章目标</a:t>
            </a:r>
            <a:endParaRPr lang="en-US" sz="975" dirty="0"/>
          </a:p>
        </p:txBody>
      </p:sp>
      <p:sp>
        <p:nvSpPr>
          <p:cNvPr id="20" name="Text 12"/>
          <p:cNvSpPr txBox="1"/>
          <p:nvPr/>
        </p:nvSpPr>
        <p:spPr>
          <a:xfrm>
            <a:off x="1831543" y="2152498"/>
            <a:ext cx="1162385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建立大模型应用开发的基础认知，完成从传统 HTTP API 调用到 LLM API 调用的迁移，本章只解决"如何稳定调用模型"。</a:t>
            </a:r>
            <a:endParaRPr lang="en-US" sz="1650" dirty="0"/>
          </a:p>
        </p:txBody>
      </p:sp>
      <p:sp>
        <p:nvSpPr>
          <p:cNvPr id="21" name="Text 13"/>
          <p:cNvSpPr txBox="1"/>
          <p:nvPr/>
        </p:nvSpPr>
        <p:spPr>
          <a:xfrm>
            <a:off x="972007" y="32388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K1</a:t>
            </a:r>
            <a:endParaRPr lang="en-US" sz="2400" dirty="0"/>
          </a:p>
        </p:txBody>
      </p:sp>
      <p:sp>
        <p:nvSpPr>
          <p:cNvPr id="22" name="Text 14"/>
          <p:cNvSpPr txBox="1"/>
          <p:nvPr/>
        </p:nvSpPr>
        <p:spPr>
          <a:xfrm>
            <a:off x="1505102" y="3372307"/>
            <a:ext cx="151699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岗位能力模型 · 转型路径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972007" y="3600907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Agent 开发工程师能力模型</a:t>
            </a:r>
            <a:endParaRPr lang="en-US" sz="1650" dirty="0"/>
          </a:p>
        </p:txBody>
      </p:sp>
      <p:sp>
        <p:nvSpPr>
          <p:cNvPr id="24" name="Text 16"/>
          <p:cNvSpPr txBox="1"/>
          <p:nvPr/>
        </p:nvSpPr>
        <p:spPr>
          <a:xfrm>
            <a:off x="972007" y="3936492"/>
            <a:ext cx="54772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已有优势 · 8 项</a:t>
            </a:r>
            <a:endParaRPr lang="en-US" sz="975" dirty="0"/>
          </a:p>
        </p:txBody>
      </p:sp>
      <p:sp>
        <p:nvSpPr>
          <p:cNvPr id="25" name="Text 17"/>
          <p:cNvSpPr txBox="1"/>
          <p:nvPr/>
        </p:nvSpPr>
        <p:spPr>
          <a:xfrm>
            <a:off x="972007" y="4396435"/>
            <a:ext cx="54772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重点补齐 · 6 项</a:t>
            </a:r>
            <a:endParaRPr lang="en-US" sz="975" dirty="0"/>
          </a:p>
        </p:txBody>
      </p:sp>
      <p:sp>
        <p:nvSpPr>
          <p:cNvPr id="26" name="Text 18"/>
          <p:cNvSpPr txBox="1"/>
          <p:nvPr/>
        </p:nvSpPr>
        <p:spPr>
          <a:xfrm>
            <a:off x="972007" y="4875581"/>
            <a:ext cx="565922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能力拆解 = 后端工程 / Python / LLM API 与 Prompt / RAG / Agent Loop / Context / Eval / 工程化</a:t>
            </a:r>
            <a:endParaRPr lang="en-US" sz="825" dirty="0"/>
          </a:p>
        </p:txBody>
      </p:sp>
      <p:sp>
        <p:nvSpPr>
          <p:cNvPr id="27" name="Text 19"/>
          <p:cNvSpPr txBox="1"/>
          <p:nvPr/>
        </p:nvSpPr>
        <p:spPr>
          <a:xfrm>
            <a:off x="972007" y="4147718"/>
            <a:ext cx="48390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服务 · 数据库 · 异步任务 · 鉴权 · 日志 · 限流 / 重试 / 熔断 · Docker 部署</a:t>
            </a:r>
            <a:endParaRPr lang="en-US" sz="975" dirty="0"/>
          </a:p>
        </p:txBody>
      </p:sp>
      <p:sp>
        <p:nvSpPr>
          <p:cNvPr id="28" name="Text 20"/>
          <p:cNvSpPr txBox="1"/>
          <p:nvPr/>
        </p:nvSpPr>
        <p:spPr>
          <a:xfrm>
            <a:off x="972007" y="4607662"/>
            <a:ext cx="53821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模型调用 · Prompt / 结构化输出 · 工具协议 · 上下文 · Agent 状态机 · Eval 与质量治理</a:t>
            </a:r>
            <a:endParaRPr lang="en-US" sz="975" dirty="0"/>
          </a:p>
        </p:txBody>
      </p:sp>
      <p:sp>
        <p:nvSpPr>
          <p:cNvPr id="29" name="Text 21"/>
          <p:cNvSpPr txBox="1"/>
          <p:nvPr/>
        </p:nvSpPr>
        <p:spPr>
          <a:xfrm>
            <a:off x="6610198" y="32388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K2</a:t>
            </a:r>
            <a:endParaRPr lang="en-US" sz="2400" dirty="0"/>
          </a:p>
        </p:txBody>
      </p:sp>
      <p:sp>
        <p:nvSpPr>
          <p:cNvPr id="30" name="Text 22"/>
          <p:cNvSpPr txBox="1"/>
          <p:nvPr/>
        </p:nvSpPr>
        <p:spPr>
          <a:xfrm>
            <a:off x="7144207" y="3390595"/>
            <a:ext cx="22293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Completions / Responses</a:t>
            </a:r>
            <a:endParaRPr lang="en-US" sz="825" dirty="0"/>
          </a:p>
        </p:txBody>
      </p:sp>
      <p:sp>
        <p:nvSpPr>
          <p:cNvPr id="31" name="Text 23"/>
          <p:cNvSpPr txBox="1"/>
          <p:nvPr/>
        </p:nvSpPr>
        <p:spPr>
          <a:xfrm>
            <a:off x="6610198" y="3600907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 API 与模型调用基础</a:t>
            </a:r>
            <a:endParaRPr lang="en-US" sz="1650" dirty="0"/>
          </a:p>
        </p:txBody>
      </p:sp>
      <p:sp>
        <p:nvSpPr>
          <p:cNvPr id="32" name="Text 24"/>
          <p:cNvSpPr txBox="1"/>
          <p:nvPr/>
        </p:nvSpPr>
        <p:spPr>
          <a:xfrm>
            <a:off x="6610198" y="3931006"/>
            <a:ext cx="5477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Chat Completions / Responses API 请求结构、消息格式、模型参数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参数：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</a:t>
            </a: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top_p</a:t>
            </a: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max_tokens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Token 与 Context Window 计量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Structured Output：JSON Schema · Pydantic · 模型原生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异常类型：失败 / 超时 / 限流 / 输出格式错误 → 重试策略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多模型调用统一接口与路由</a:t>
            </a:r>
            <a:endParaRPr lang="en-US" sz="975" dirty="0"/>
          </a:p>
        </p:txBody>
      </p:sp>
      <p:sp>
        <p:nvSpPr>
          <p:cNvPr id="33" name="Text 25"/>
          <p:cNvSpPr txBox="1"/>
          <p:nvPr/>
        </p:nvSpPr>
        <p:spPr>
          <a:xfrm>
            <a:off x="12249302" y="32388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K3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12783312" y="3390595"/>
            <a:ext cx="18196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 / StreamingResponse</a:t>
            </a:r>
            <a:endParaRPr lang="en-US" sz="825" dirty="0"/>
          </a:p>
        </p:txBody>
      </p:sp>
      <p:sp>
        <p:nvSpPr>
          <p:cNvPr id="35" name="Text 27"/>
          <p:cNvSpPr txBox="1"/>
          <p:nvPr/>
        </p:nvSpPr>
        <p:spPr>
          <a:xfrm>
            <a:off x="12249302" y="3600907"/>
            <a:ext cx="54864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Streaming 流式输出</a:t>
            </a:r>
            <a:endParaRPr lang="en-US" sz="1650" dirty="0"/>
          </a:p>
        </p:txBody>
      </p:sp>
      <p:sp>
        <p:nvSpPr>
          <p:cNvPr id="36" name="Text 28"/>
          <p:cNvSpPr txBox="1"/>
          <p:nvPr/>
        </p:nvSpPr>
        <p:spPr>
          <a:xfrm>
            <a:off x="12249302" y="3931006"/>
            <a:ext cx="5486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模型推理延迟高，串行等待压垮体验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Server-Sent Events + HTTP 长连接 → 打字机效果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FastAPI 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StreamingResponse</a:t>
            </a: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低延迟转发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前端 / CLI 消费：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EventSource</a:t>
            </a: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ReadableStream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中断 / 取消（避免浪费 Token）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长文本断点持久化（跨 Context Window / 会话断开恢复）</a:t>
            </a:r>
            <a:endParaRPr lang="en-US" sz="975" dirty="0"/>
          </a:p>
        </p:txBody>
      </p:sp>
      <p:sp>
        <p:nvSpPr>
          <p:cNvPr id="37" name="Text 29"/>
          <p:cNvSpPr txBox="1"/>
          <p:nvPr/>
        </p:nvSpPr>
        <p:spPr>
          <a:xfrm>
            <a:off x="972007" y="65535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K4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1505102" y="6687007"/>
            <a:ext cx="188457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/ Few-shot / 模板</a:t>
            </a:r>
            <a:endParaRPr lang="en-US" sz="825" dirty="0"/>
          </a:p>
        </p:txBody>
      </p:sp>
      <p:sp>
        <p:nvSpPr>
          <p:cNvPr id="39" name="Text 31"/>
          <p:cNvSpPr txBox="1"/>
          <p:nvPr/>
        </p:nvSpPr>
        <p:spPr>
          <a:xfrm>
            <a:off x="972007" y="6915607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Prompt Engineering</a:t>
            </a:r>
            <a:endParaRPr lang="en-US" sz="1650" dirty="0"/>
          </a:p>
        </p:txBody>
      </p:sp>
      <p:sp>
        <p:nvSpPr>
          <p:cNvPr id="40" name="Text 32"/>
          <p:cNvSpPr txBox="1"/>
          <p:nvPr/>
        </p:nvSpPr>
        <p:spPr>
          <a:xfrm>
            <a:off x="972007" y="7245706"/>
            <a:ext cx="5477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System Prompt：模型的"岗位说明书"，设定全局行为基调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角色定义 · 输出风格控制 · 行为约束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Few-shot：2-3 个"输入→输出"范例，格式敏感任务更稳定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任务拆解 → 降低幻觉与逻辑跳跃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Prompt 模板：变量嵌入 · 可复用 · 可版本管理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注入风险与防护（用户输入篡改指令）</a:t>
            </a:r>
            <a:endParaRPr lang="en-US" sz="975" dirty="0"/>
          </a:p>
        </p:txBody>
      </p:sp>
      <p:sp>
        <p:nvSpPr>
          <p:cNvPr id="41" name="Text 33"/>
          <p:cNvSpPr txBox="1"/>
          <p:nvPr/>
        </p:nvSpPr>
        <p:spPr>
          <a:xfrm>
            <a:off x="6610198" y="65535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K5</a:t>
            </a:r>
            <a:endParaRPr lang="en-US" sz="2400" dirty="0"/>
          </a:p>
        </p:txBody>
      </p:sp>
      <p:sp>
        <p:nvSpPr>
          <p:cNvPr id="42" name="Text 34"/>
          <p:cNvSpPr txBox="1"/>
          <p:nvPr/>
        </p:nvSpPr>
        <p:spPr>
          <a:xfrm>
            <a:off x="7144207" y="6687007"/>
            <a:ext cx="188457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/ Pydantic / 原生</a:t>
            </a:r>
            <a:endParaRPr lang="en-US" sz="825" dirty="0"/>
          </a:p>
        </p:txBody>
      </p:sp>
      <p:sp>
        <p:nvSpPr>
          <p:cNvPr id="43" name="Text 35"/>
          <p:cNvSpPr txBox="1"/>
          <p:nvPr/>
        </p:nvSpPr>
        <p:spPr>
          <a:xfrm>
            <a:off x="6610198" y="6915607"/>
            <a:ext cx="54772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Output 结构化输出</a:t>
            </a:r>
            <a:endParaRPr lang="en-US" sz="1650" dirty="0"/>
          </a:p>
        </p:txBody>
      </p:sp>
      <p:sp>
        <p:nvSpPr>
          <p:cNvPr id="44" name="Text 36"/>
          <p:cNvSpPr txBox="1"/>
          <p:nvPr/>
        </p:nvSpPr>
        <p:spPr>
          <a:xfrm>
            <a:off x="6610198" y="7245706"/>
            <a:ext cx="5477256" cy="14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Agent 系统不能依赖自然语言解析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JSON Schema：输出结构标准规范（字段·类型·必填）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Pydantic Model：Schema 校验 + 反序列化为对象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模型原生结构化输出：API 层传入 Schema，模型自合规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输出纠错与重试：错误反喂 → 模型自修正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失败处理：多次重试失败 → 降级 / 缓存结果回退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输出格式与业务协议设计契约</a:t>
            </a:r>
            <a:endParaRPr lang="en-US" sz="975" dirty="0"/>
          </a:p>
        </p:txBody>
      </p:sp>
      <p:sp>
        <p:nvSpPr>
          <p:cNvPr id="45" name="Text 37"/>
          <p:cNvSpPr txBox="1"/>
          <p:nvPr/>
        </p:nvSpPr>
        <p:spPr>
          <a:xfrm>
            <a:off x="12249302" y="6553505"/>
            <a:ext cx="409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K6</a:t>
            </a:r>
            <a:endParaRPr lang="en-US" sz="2400" dirty="0"/>
          </a:p>
        </p:txBody>
      </p:sp>
      <p:sp>
        <p:nvSpPr>
          <p:cNvPr id="46" name="Text 38"/>
          <p:cNvSpPr txBox="1"/>
          <p:nvPr/>
        </p:nvSpPr>
        <p:spPr>
          <a:xfrm>
            <a:off x="12249302" y="6915607"/>
            <a:ext cx="54864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平台入口层 · 阶段一</a:t>
            </a:r>
            <a:endParaRPr lang="en-US" sz="1650" dirty="0"/>
          </a:p>
        </p:txBody>
      </p:sp>
      <p:sp>
        <p:nvSpPr>
          <p:cNvPr id="47" name="Text 39"/>
          <p:cNvSpPr txBox="1"/>
          <p:nvPr/>
        </p:nvSpPr>
        <p:spPr>
          <a:xfrm>
            <a:off x="12249302" y="7245706"/>
            <a:ext cx="5486400" cy="14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FastAPI 统一 HTTP 入口（API Key 集中管理）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OpenAI Compatible 多厂商协议适配 · Streaming 转发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Structured Output 集成 · Pydantic 双端校验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Prompt 模板库（上层仅传变量）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错误处理：限流 / 超时 / Fallback 备用模型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Token / Cost / Latency 留痕 → 成本治理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项目一：构建 OpenAI Compatible · 多模型路由 · 流式 · 结构化输出 · 模板 · 留痕 · 限流</a:t>
            </a:r>
            <a:endParaRPr lang="en-US" sz="975" dirty="0"/>
          </a:p>
        </p:txBody>
      </p:sp>
      <p:sp>
        <p:nvSpPr>
          <p:cNvPr id="48" name="Text 40"/>
          <p:cNvSpPr txBox="1"/>
          <p:nvPr/>
        </p:nvSpPr>
        <p:spPr>
          <a:xfrm>
            <a:off x="12783312" y="6687007"/>
            <a:ext cx="164683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项目一 · LLM Gateway</a:t>
            </a:r>
            <a:endParaRPr lang="en-US" sz="825" dirty="0"/>
          </a:p>
        </p:txBody>
      </p:sp>
      <p:sp>
        <p:nvSpPr>
          <p:cNvPr id="49" name="Text 41"/>
          <p:cNvSpPr txBox="1"/>
          <p:nvPr/>
        </p:nvSpPr>
        <p:spPr>
          <a:xfrm>
            <a:off x="761695" y="9696298"/>
            <a:ext cx="16486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DEPS · LLM Gateway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2541118" y="9696298"/>
            <a:ext cx="68680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 · SSE · Pydantic · Token / Cost / Latency · Multi-Router · Fallback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11713464" y="96962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17044416" y="9706356"/>
            <a:ext cx="57881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67305"/>
            <a:ext cx="7848295" cy="5333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67305"/>
            <a:ext cx="38405" cy="533369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715500" y="2667305"/>
            <a:ext cx="7848295" cy="53336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9715500" y="2667305"/>
            <a:ext cx="38405" cy="533369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67598" y="3886200"/>
            <a:ext cx="972007" cy="2895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" y="571500"/>
            <a:ext cx="34006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TRANSITION · Backend→Agent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862718" y="571500"/>
            <a:ext cx="79662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Already Have × 6 Need to Learn · Stack Your Engineering Foundation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你不是从零开始 —— 7 项优势你已经具备，6 项能力等你补齐</a:t>
            </a:r>
            <a:endParaRPr lang="en-US" sz="345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 API 服务到 Agent Loop，传统后端工程师的工程底座并不浪费；缺的只是"模型/工具/状态/评测"的智能力。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67105" y="2933395"/>
            <a:ext cx="1143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已有优势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2343607" y="3038551"/>
            <a:ext cx="17812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Already Have · 7 项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67105" y="3276295"/>
            <a:ext cx="7810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传统后端工程师已经会的——你的工程底座，不会被浪费。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67105" y="3689604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28954" y="3833165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API 服务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1228954" y="4042562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统一接口 · 鉴权 · 版本 · 文档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5076749" y="3689604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8598" y="3833165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数据库与缓存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5238598" y="4042562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· 索引 · Redis · 一致性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1067105" y="4491533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28954" y="4635094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异步任务</a:t>
            </a:r>
            <a:endParaRPr lang="en-US" sz="825" dirty="0"/>
          </a:p>
        </p:txBody>
      </p:sp>
      <p:sp>
        <p:nvSpPr>
          <p:cNvPr id="23" name="Text 20"/>
          <p:cNvSpPr txBox="1"/>
          <p:nvPr/>
        </p:nvSpPr>
        <p:spPr>
          <a:xfrm>
            <a:off x="1228954" y="4844491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 · Worker · 调度 · 回调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5076749" y="4491533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238598" y="4635094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权限认证</a:t>
            </a:r>
            <a:endParaRPr lang="en-US" sz="825" dirty="0"/>
          </a:p>
        </p:txBody>
      </p:sp>
      <p:sp>
        <p:nvSpPr>
          <p:cNvPr id="26" name="Text 23"/>
          <p:cNvSpPr txBox="1"/>
          <p:nvPr/>
        </p:nvSpPr>
        <p:spPr>
          <a:xfrm>
            <a:off x="5238598" y="4844491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· OAuth/JWT · 用户身份透传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1067105" y="5293462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28954" y="5436108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日志监控</a:t>
            </a:r>
            <a:endParaRPr lang="en-US" sz="825" dirty="0"/>
          </a:p>
        </p:txBody>
      </p:sp>
      <p:sp>
        <p:nvSpPr>
          <p:cNvPr id="29" name="Text 26"/>
          <p:cNvSpPr txBox="1"/>
          <p:nvPr/>
        </p:nvSpPr>
        <p:spPr>
          <a:xfrm>
            <a:off x="1228954" y="5646420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结构化日志 · Trace · 指标采集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5076749" y="5293462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38598" y="5436108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限流 · 重试 · 熔断</a:t>
            </a:r>
            <a:endParaRPr lang="en-US" sz="825" dirty="0"/>
          </a:p>
        </p:txBody>
      </p:sp>
      <p:sp>
        <p:nvSpPr>
          <p:cNvPr id="32" name="Text 29"/>
          <p:cNvSpPr txBox="1"/>
          <p:nvPr/>
        </p:nvSpPr>
        <p:spPr>
          <a:xfrm>
            <a:off x="5238598" y="5646420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流量治理 · 失败恢复 · 雪崩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1067105" y="6095390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28954" y="6238037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Docker · 部署</a:t>
            </a:r>
            <a:endParaRPr lang="en-US" sz="825" dirty="0"/>
          </a:p>
        </p:txBody>
      </p:sp>
      <p:sp>
        <p:nvSpPr>
          <p:cNvPr id="35" name="Text 32"/>
          <p:cNvSpPr txBox="1"/>
          <p:nvPr/>
        </p:nvSpPr>
        <p:spPr>
          <a:xfrm>
            <a:off x="1228954" y="6448349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 · CI/CD · 灰度发布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019995" y="2933395"/>
            <a:ext cx="1143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4530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重点补齐</a:t>
            </a:r>
            <a:endParaRPr lang="en-US" sz="2250" dirty="0"/>
          </a:p>
        </p:txBody>
      </p:sp>
      <p:sp>
        <p:nvSpPr>
          <p:cNvPr id="37" name="Text 34"/>
          <p:cNvSpPr txBox="1"/>
          <p:nvPr/>
        </p:nvSpPr>
        <p:spPr>
          <a:xfrm>
            <a:off x="11296498" y="3038551"/>
            <a:ext cx="186811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to Learn · 6 项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0019995" y="3276295"/>
            <a:ext cx="7810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时代的智能力——模型、协议、状态、评测，每一次工程能力都点名要补。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0019995" y="3689604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181844" y="3833165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模型调用</a:t>
            </a:r>
            <a:endParaRPr lang="en-US" sz="825" dirty="0"/>
          </a:p>
        </p:txBody>
      </p:sp>
      <p:sp>
        <p:nvSpPr>
          <p:cNvPr id="41" name="Text 38"/>
          <p:cNvSpPr txBox="1"/>
          <p:nvPr/>
        </p:nvSpPr>
        <p:spPr>
          <a:xfrm>
            <a:off x="10181844" y="4042562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API · Prompt · 结构化输出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14030554" y="3689604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4192402" y="3833165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Prompt + 结构化输出</a:t>
            </a:r>
            <a:endParaRPr lang="en-US" sz="825" dirty="0"/>
          </a:p>
        </p:txBody>
      </p:sp>
      <p:sp>
        <p:nvSpPr>
          <p:cNvPr id="44" name="Text 41"/>
          <p:cNvSpPr txBox="1"/>
          <p:nvPr/>
        </p:nvSpPr>
        <p:spPr>
          <a:xfrm>
            <a:off x="14192402" y="4042562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Few-shot · JSON Schema · Pydantic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10019995" y="4491533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181844" y="4635094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工具协议</a:t>
            </a:r>
            <a:endParaRPr lang="en-US" sz="825" dirty="0"/>
          </a:p>
        </p:txBody>
      </p:sp>
      <p:sp>
        <p:nvSpPr>
          <p:cNvPr id="47" name="Text 44"/>
          <p:cNvSpPr txBox="1"/>
          <p:nvPr/>
        </p:nvSpPr>
        <p:spPr>
          <a:xfrm>
            <a:off x="10181844" y="4844491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Calling · MCP · 工具治理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14030554" y="4491533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4192402" y="4635094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上下文管理</a:t>
            </a:r>
            <a:endParaRPr lang="en-US" sz="825" dirty="0"/>
          </a:p>
        </p:txBody>
      </p:sp>
      <p:sp>
        <p:nvSpPr>
          <p:cNvPr id="50" name="Text 47"/>
          <p:cNvSpPr txBox="1"/>
          <p:nvPr/>
        </p:nvSpPr>
        <p:spPr>
          <a:xfrm>
            <a:off x="14192402" y="4844491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Engineering · Memory · RAG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0019995" y="5293462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181844" y="5436108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Agent 状态机</a:t>
            </a:r>
            <a:endParaRPr lang="en-US" sz="825" dirty="0"/>
          </a:p>
        </p:txBody>
      </p:sp>
      <p:sp>
        <p:nvSpPr>
          <p:cNvPr id="53" name="Text 50"/>
          <p:cNvSpPr txBox="1"/>
          <p:nvPr/>
        </p:nvSpPr>
        <p:spPr>
          <a:xfrm>
            <a:off x="10181844" y="5646420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· Checkpoint · Sandbox · 恢复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14030554" y="5293462"/>
            <a:ext cx="380024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4192402" y="5436108"/>
            <a:ext cx="34774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Eval + 质量治理</a:t>
            </a:r>
            <a:endParaRPr lang="en-US" sz="825" dirty="0"/>
          </a:p>
        </p:txBody>
      </p:sp>
      <p:sp>
        <p:nvSpPr>
          <p:cNvPr id="56" name="Text 53"/>
          <p:cNvSpPr txBox="1"/>
          <p:nvPr/>
        </p:nvSpPr>
        <p:spPr>
          <a:xfrm>
            <a:off x="14192402" y="5646420"/>
            <a:ext cx="347746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· LLM-as-Judge · 回归</a:t>
            </a:r>
            <a:endParaRPr lang="en-US" sz="975" dirty="0"/>
          </a:p>
        </p:txBody>
      </p:sp>
      <p:sp>
        <p:nvSpPr>
          <p:cNvPr id="57" name="Text 54"/>
          <p:cNvSpPr txBox="1"/>
          <p:nvPr/>
        </p:nvSpPr>
        <p:spPr>
          <a:xfrm>
            <a:off x="8667598" y="4572000"/>
            <a:ext cx="952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5" b="1" kern="0" spc="59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叠加</a:t>
            </a:r>
            <a:endParaRPr lang="en-US" sz="975" dirty="0"/>
          </a:p>
        </p:txBody>
      </p:sp>
      <p:sp>
        <p:nvSpPr>
          <p:cNvPr id="58" name="Text 55"/>
          <p:cNvSpPr txBox="1"/>
          <p:nvPr/>
        </p:nvSpPr>
        <p:spPr>
          <a:xfrm>
            <a:off x="8667598" y="4789627"/>
            <a:ext cx="952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4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不是替代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8667598" y="5012741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工程底座</a:t>
            </a:r>
            <a:endParaRPr lang="en-US" sz="825" dirty="0"/>
          </a:p>
        </p:txBody>
      </p:sp>
      <p:sp>
        <p:nvSpPr>
          <p:cNvPr id="60" name="Text 57"/>
          <p:cNvSpPr txBox="1"/>
          <p:nvPr/>
        </p:nvSpPr>
        <p:spPr>
          <a:xfrm>
            <a:off x="8667598" y="5188306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2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智能力</a:t>
            </a:r>
            <a:endParaRPr lang="en-US" sz="825" dirty="0"/>
          </a:p>
        </p:txBody>
      </p:sp>
      <p:sp>
        <p:nvSpPr>
          <p:cNvPr id="61" name="Text 58"/>
          <p:cNvSpPr txBox="1"/>
          <p:nvPr/>
        </p:nvSpPr>
        <p:spPr>
          <a:xfrm>
            <a:off x="8943746" y="4000500"/>
            <a:ext cx="40050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15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3150" dirty="0"/>
          </a:p>
        </p:txBody>
      </p:sp>
      <p:sp>
        <p:nvSpPr>
          <p:cNvPr id="62" name="Shape 59"/>
          <p:cNvSpPr/>
          <p:nvPr/>
        </p:nvSpPr>
        <p:spPr>
          <a:xfrm>
            <a:off x="761695" y="8287207"/>
            <a:ext cx="16763695" cy="743407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28700" y="8580730"/>
            <a:ext cx="4956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转型结果</a:t>
            </a:r>
            <a:endParaRPr lang="en-US" sz="825" dirty="0"/>
          </a:p>
        </p:txBody>
      </p:sp>
      <p:sp>
        <p:nvSpPr>
          <p:cNvPr id="64" name="Text 61"/>
          <p:cNvSpPr txBox="1"/>
          <p:nvPr/>
        </p:nvSpPr>
        <p:spPr>
          <a:xfrm>
            <a:off x="1819656" y="8496605"/>
            <a:ext cx="104168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从"会调模型的人"变成"会交付 Agent 平台的工程师"——同一条能力模型，3 倍岗位可选面。</a:t>
            </a:r>
            <a:endParaRPr lang="en-US" sz="1950" dirty="0"/>
          </a:p>
        </p:txBody>
      </p:sp>
      <p:sp>
        <p:nvSpPr>
          <p:cNvPr id="65" name="Text 62"/>
          <p:cNvSpPr txBox="1"/>
          <p:nvPr/>
        </p:nvSpPr>
        <p:spPr>
          <a:xfrm>
            <a:off x="761695" y="9696298"/>
            <a:ext cx="3721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CAPS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1260958" y="9696298"/>
            <a:ext cx="91540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× {API, DB, Async, Auth, Logging, Resiliency, Docker} · 6 × {Model, Schema, MCP, Ctx, State, Eval}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12209983" y="96962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17031614" y="9706356"/>
            <a:ext cx="5897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67305"/>
            <a:ext cx="5372100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67305"/>
            <a:ext cx="38405" cy="55248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6695" y="2667305"/>
            <a:ext cx="5372100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6476695" y="2667305"/>
            <a:ext cx="38405" cy="552480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91695" y="2667305"/>
            <a:ext cx="5372100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12191695" y="2667305"/>
            <a:ext cx="38405" cy="552480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695" y="8382305"/>
            <a:ext cx="16763695" cy="1123798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1695" y="571500"/>
            <a:ext cx="391271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TECH-STACK · AI-native 3-piece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773107" y="571500"/>
            <a:ext cx="831372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 (Trae/Codex) · LLM (DeepSeek V4 Flash) · Framework (PI / LangGraph)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 开发 vs 传统开发 · 三件套全换</a:t>
            </a:r>
            <a:endParaRPr lang="en-US" sz="345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写代码的工具、跑模型的网关、跑流程的框架——三件事在 2025–2026 这一年被 AI-native 形态重做了一遍。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67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维度 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67105" y="3133649"/>
            <a:ext cx="4169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550" dirty="0"/>
          </a:p>
        </p:txBody>
      </p:sp>
      <p:sp>
        <p:nvSpPr>
          <p:cNvPr id="16" name="Text 13"/>
          <p:cNvSpPr txBox="1"/>
          <p:nvPr/>
        </p:nvSpPr>
        <p:spPr>
          <a:xfrm>
            <a:off x="1569110" y="3181198"/>
            <a:ext cx="10771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工具不同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1067105" y="3534156"/>
            <a:ext cx="49917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从编辑器 → AI-native IDE + CLI 编码助手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67105" y="4013302"/>
            <a:ext cx="49907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48156" y="4175150"/>
            <a:ext cx="46296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传统基线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248156" y="4356202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VSCode</a:t>
            </a:r>
            <a:endParaRPr lang="en-US" sz="1950" dirty="0"/>
          </a:p>
        </p:txBody>
      </p:sp>
      <p:sp>
        <p:nvSpPr>
          <p:cNvPr id="21" name="Text 18"/>
          <p:cNvSpPr txBox="1"/>
          <p:nvPr/>
        </p:nvSpPr>
        <p:spPr>
          <a:xfrm>
            <a:off x="1248156" y="4654296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编辑 + 插件 + Copilot 辅助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67105" y="5071262"/>
            <a:ext cx="4990795" cy="94274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48156" y="5233111"/>
            <a:ext cx="46296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IDE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248156" y="5384902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Trae</a:t>
            </a:r>
            <a:endParaRPr lang="en-US" sz="1950" dirty="0"/>
          </a:p>
        </p:txBody>
      </p:sp>
      <p:sp>
        <p:nvSpPr>
          <p:cNvPr id="25" name="Text 22"/>
          <p:cNvSpPr txBox="1"/>
          <p:nvPr/>
        </p:nvSpPr>
        <p:spPr>
          <a:xfrm>
            <a:off x="1248156" y="5682996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字节 · 对话式 Agent IDE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67105" y="6100877"/>
            <a:ext cx="49907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48156" y="6262726"/>
            <a:ext cx="46296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编码助手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1248156" y="6443777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Codex</a:t>
            </a:r>
            <a:endParaRPr lang="en-US" sz="1950" dirty="0"/>
          </a:p>
        </p:txBody>
      </p:sp>
      <p:sp>
        <p:nvSpPr>
          <p:cNvPr id="29" name="Text 26"/>
          <p:cNvSpPr txBox="1"/>
          <p:nvPr/>
        </p:nvSpPr>
        <p:spPr>
          <a:xfrm>
            <a:off x="1248156" y="6741871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 Agent · 长程任务执行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782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维度 02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782105" y="3133649"/>
            <a:ext cx="4169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550" dirty="0"/>
          </a:p>
        </p:txBody>
      </p:sp>
      <p:sp>
        <p:nvSpPr>
          <p:cNvPr id="32" name="Text 29"/>
          <p:cNvSpPr txBox="1"/>
          <p:nvPr/>
        </p:nvSpPr>
        <p:spPr>
          <a:xfrm>
            <a:off x="7284110" y="3181198"/>
            <a:ext cx="10771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主流模型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6782105" y="3534156"/>
            <a:ext cx="49917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从绝对智力 → 速度和性价比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782105" y="4013302"/>
            <a:ext cx="4990795" cy="2333549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010705" y="4546397"/>
            <a:ext cx="45345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DeepSeek</a:t>
            </a:r>
            <a:endParaRPr lang="en-US" sz="2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V4 Flash</a:t>
            </a:r>
            <a:endParaRPr lang="en-US" sz="2850" dirty="0"/>
          </a:p>
        </p:txBody>
      </p:sp>
      <p:sp>
        <p:nvSpPr>
          <p:cNvPr id="36" name="Text 33"/>
          <p:cNvSpPr txBox="1"/>
          <p:nvPr/>
        </p:nvSpPr>
        <p:spPr>
          <a:xfrm>
            <a:off x="7010705" y="5415077"/>
            <a:ext cx="453451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开源 + 推理极快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适合 Agent Loop 多步调用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成本可承担、延迟可预测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6782105" y="6452921"/>
            <a:ext cx="4990795" cy="8092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63156" y="6595567"/>
            <a:ext cx="46296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为什么是 Flash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6963156" y="6776618"/>
            <a:ext cx="4629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跑的不是 35 道工程题，是 35 步短推理——速度和性价比，关注度首次超过绝对智力。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010705" y="4317797"/>
            <a:ext cx="45345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主流档</a:t>
            </a:r>
            <a:endParaRPr lang="en-US" sz="825" dirty="0"/>
          </a:p>
        </p:txBody>
      </p:sp>
      <p:sp>
        <p:nvSpPr>
          <p:cNvPr id="41" name="Text 38"/>
          <p:cNvSpPr txBox="1"/>
          <p:nvPr/>
        </p:nvSpPr>
        <p:spPr>
          <a:xfrm>
            <a:off x="12497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维度 03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2497105" y="3133649"/>
            <a:ext cx="4169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B4530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550" dirty="0"/>
          </a:p>
        </p:txBody>
      </p:sp>
      <p:sp>
        <p:nvSpPr>
          <p:cNvPr id="43" name="Text 40"/>
          <p:cNvSpPr txBox="1"/>
          <p:nvPr/>
        </p:nvSpPr>
        <p:spPr>
          <a:xfrm>
            <a:off x="12999110" y="3181198"/>
            <a:ext cx="1343254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框架和流程</a:t>
            </a:r>
            <a:endParaRPr lang="en-US" sz="2100" dirty="0"/>
          </a:p>
        </p:txBody>
      </p:sp>
      <p:sp>
        <p:nvSpPr>
          <p:cNvPr id="44" name="Text 41"/>
          <p:cNvSpPr txBox="1"/>
          <p:nvPr/>
        </p:nvSpPr>
        <p:spPr>
          <a:xfrm>
            <a:off x="12497105" y="3534156"/>
            <a:ext cx="49917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从单轮 Prompt → 状态图 + Loop + Agent 协作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2497105" y="4013302"/>
            <a:ext cx="4990795" cy="942746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2678156" y="4175150"/>
            <a:ext cx="46296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Agent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12678156" y="4326941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Codex</a:t>
            </a:r>
            <a:endParaRPr lang="en-US" sz="1950" dirty="0"/>
          </a:p>
        </p:txBody>
      </p:sp>
      <p:sp>
        <p:nvSpPr>
          <p:cNvPr id="48" name="Text 45"/>
          <p:cNvSpPr txBox="1"/>
          <p:nvPr/>
        </p:nvSpPr>
        <p:spPr>
          <a:xfrm>
            <a:off x="12678156" y="4625035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终端命令驱动 · 任务执行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2497105" y="5042002"/>
            <a:ext cx="4990795" cy="972007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2678156" y="5204765"/>
            <a:ext cx="46296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 Agent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12678156" y="5384902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</a:t>
            </a:r>
            <a:endParaRPr lang="en-US" sz="1950" dirty="0"/>
          </a:p>
        </p:txBody>
      </p:sp>
      <p:sp>
        <p:nvSpPr>
          <p:cNvPr id="52" name="Text 49"/>
          <p:cNvSpPr txBox="1"/>
          <p:nvPr/>
        </p:nvSpPr>
        <p:spPr>
          <a:xfrm>
            <a:off x="12678156" y="5682996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 Agent 协议 · 跨工具调用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2497105" y="6100877"/>
            <a:ext cx="4990795" cy="942746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2678156" y="6262726"/>
            <a:ext cx="46296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05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Machine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12678156" y="6414516"/>
            <a:ext cx="46296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LangGraph</a:t>
            </a:r>
            <a:endParaRPr lang="en-US" sz="1950" dirty="0"/>
          </a:p>
        </p:txBody>
      </p:sp>
      <p:sp>
        <p:nvSpPr>
          <p:cNvPr id="56" name="Text 53"/>
          <p:cNvSpPr txBox="1"/>
          <p:nvPr/>
        </p:nvSpPr>
        <p:spPr>
          <a:xfrm>
            <a:off x="12678156" y="6712610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· 图节点 + 分支 + Checkpoint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1067105" y="8683142"/>
            <a:ext cx="6099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三件套全换</a:t>
            </a:r>
            <a:endParaRPr lang="en-US" sz="825" dirty="0"/>
          </a:p>
        </p:txBody>
      </p:sp>
      <p:sp>
        <p:nvSpPr>
          <p:cNvPr id="58" name="Text 55"/>
          <p:cNvSpPr txBox="1"/>
          <p:nvPr/>
        </p:nvSpPr>
        <p:spPr>
          <a:xfrm>
            <a:off x="1979676" y="8610905"/>
            <a:ext cx="1158636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工具不再是编辑器，模型不再是瓶颈，框架不再是 Workflow——三件套用 AI-native 重做，工程起点就不一样。</a:t>
            </a:r>
            <a:endParaRPr lang="en-US" sz="1800" dirty="0"/>
          </a:p>
        </p:txBody>
      </p:sp>
      <p:sp>
        <p:nvSpPr>
          <p:cNvPr id="59" name="Text 56"/>
          <p:cNvSpPr txBox="1"/>
          <p:nvPr/>
        </p:nvSpPr>
        <p:spPr>
          <a:xfrm>
            <a:off x="761695" y="9724644"/>
            <a:ext cx="46725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352398" y="9696298"/>
            <a:ext cx="6954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VSCode → Trae/Codex · GPT-4 → DeepSeek V4 Flash · LangChain → LangGraph/PI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11158423" y="9724644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7031614" y="9734702"/>
            <a:ext cx="5897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67305"/>
            <a:ext cx="5372100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67305"/>
            <a:ext cx="38405" cy="5524805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6695" y="2667305"/>
            <a:ext cx="5352898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191695" y="2667305"/>
            <a:ext cx="5372100" cy="55248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" name="Shape 4"/>
          <p:cNvSpPr/>
          <p:nvPr/>
        </p:nvSpPr>
        <p:spPr>
          <a:xfrm>
            <a:off x="12191695" y="2667305"/>
            <a:ext cx="38405" cy="5524805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8382305"/>
            <a:ext cx="16763695" cy="1123798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1695" y="571500"/>
            <a:ext cx="26151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AI-GEN · First Loop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441180" y="571500"/>
            <a:ext cx="8313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→ Plan → Act → Finalize · max_steps + cost_budget + trace.jsonl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借助 AI 生成你的第一份 Agent Loop</a:t>
            </a:r>
            <a:endParaRPr lang="en-US" sz="345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别手写 — 写一个 .md 描述，让 AI 把第一版 Loop 吐给你；先跑起来，再迭代。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67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四步 · 4 分钟先跑起来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67105" y="3133649"/>
            <a:ext cx="49917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从一段中文需求到一份可跑 Loop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067105" y="3700577"/>
            <a:ext cx="49907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48156" y="3843223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· 写需求</a:t>
            </a:r>
            <a:endParaRPr lang="en-US" sz="825" dirty="0"/>
          </a:p>
        </p:txBody>
      </p:sp>
      <p:sp>
        <p:nvSpPr>
          <p:cNvPr id="17" name="Text 14"/>
          <p:cNvSpPr txBox="1"/>
          <p:nvPr/>
        </p:nvSpPr>
        <p:spPr>
          <a:xfrm>
            <a:off x="1248156" y="4033418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用一句话写你的任务 + 工具 + 退出条件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1067105" y="4493362"/>
            <a:ext cx="49907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48156" y="4636008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· 提交 AI</a:t>
            </a:r>
            <a:endParaRPr lang="en-US" sz="825" dirty="0"/>
          </a:p>
        </p:txBody>
      </p:sp>
      <p:sp>
        <p:nvSpPr>
          <p:cNvPr id="20" name="Text 17"/>
          <p:cNvSpPr txBox="1"/>
          <p:nvPr/>
        </p:nvSpPr>
        <p:spPr>
          <a:xfrm>
            <a:off x="1248156" y="4827118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DeepSeek / Claude / Codex · 直接说"请给我 Loop"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1067105" y="5286146"/>
            <a:ext cx="49907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48156" y="5429707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· 跑起来</a:t>
            </a:r>
            <a:endParaRPr lang="en-US" sz="825" dirty="0"/>
          </a:p>
        </p:txBody>
      </p:sp>
      <p:sp>
        <p:nvSpPr>
          <p:cNvPr id="23" name="Text 20"/>
          <p:cNvSpPr txBox="1"/>
          <p:nvPr/>
        </p:nvSpPr>
        <p:spPr>
          <a:xfrm>
            <a:off x="1248156" y="5619902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本地跑一段 · 故意造失败 · 看到 trace</a:t>
            </a:r>
            <a:endParaRPr lang="en-US" sz="1275" dirty="0"/>
          </a:p>
        </p:txBody>
      </p:sp>
      <p:sp>
        <p:nvSpPr>
          <p:cNvPr id="24" name="Shape 21"/>
          <p:cNvSpPr/>
          <p:nvPr/>
        </p:nvSpPr>
        <p:spPr>
          <a:xfrm>
            <a:off x="1067105" y="6078931"/>
            <a:ext cx="49907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48156" y="6222492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· 跑动 ≠ 完成</a:t>
            </a:r>
            <a:endParaRPr lang="en-US" sz="825" dirty="0"/>
          </a:p>
        </p:txBody>
      </p:sp>
      <p:sp>
        <p:nvSpPr>
          <p:cNvPr id="26" name="Text 23"/>
          <p:cNvSpPr txBox="1"/>
          <p:nvPr/>
        </p:nvSpPr>
        <p:spPr>
          <a:xfrm>
            <a:off x="1248156" y="6412687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第一版只跑通一个 happy path · 进入 Step 2 改善</a:t>
            </a:r>
            <a:endParaRPr lang="en-US" sz="1275" dirty="0"/>
          </a:p>
        </p:txBody>
      </p:sp>
      <p:sp>
        <p:nvSpPr>
          <p:cNvPr id="27" name="Text 24"/>
          <p:cNvSpPr txBox="1"/>
          <p:nvPr/>
        </p:nvSpPr>
        <p:spPr>
          <a:xfrm>
            <a:off x="6782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示例 Prompt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782105" y="3133649"/>
            <a:ext cx="49917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如何让 AI 帮你 Debug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782105" y="3606394"/>
            <a:ext cx="4990795" cy="2324405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72300" y="3777386"/>
            <a:ext cx="46104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任务</a:t>
            </a:r>
            <a:endParaRPr lang="en-US" sz="975" dirty="0"/>
          </a:p>
        </p:txBody>
      </p:sp>
      <p:sp>
        <p:nvSpPr>
          <p:cNvPr id="31" name="Text 28"/>
          <p:cNvSpPr txBox="1"/>
          <p:nvPr/>
        </p:nvSpPr>
        <p:spPr>
          <a:xfrm>
            <a:off x="6972300" y="4570171"/>
            <a:ext cx="46104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退出条件</a:t>
            </a:r>
            <a:endParaRPr lang="en-US" sz="975" dirty="0"/>
          </a:p>
        </p:txBody>
      </p:sp>
      <p:sp>
        <p:nvSpPr>
          <p:cNvPr id="32" name="Text 29"/>
          <p:cNvSpPr txBox="1"/>
          <p:nvPr/>
        </p:nvSpPr>
        <p:spPr>
          <a:xfrm>
            <a:off x="6972300" y="5164531"/>
            <a:ext cx="46104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我想要的形态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6782105" y="6101791"/>
            <a:ext cx="49917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AI 会直接给你一份 Python Harness（state、tool、loop 三件套）。</a:t>
            </a:r>
            <a:endParaRPr lang="en-US" sz="975" dirty="0"/>
          </a:p>
        </p:txBody>
      </p:sp>
      <p:sp>
        <p:nvSpPr>
          <p:cNvPr id="34" name="Text 31"/>
          <p:cNvSpPr txBox="1"/>
          <p:nvPr/>
        </p:nvSpPr>
        <p:spPr>
          <a:xfrm>
            <a:off x="6972300" y="3984955"/>
            <a:ext cx="44101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给一个 Python 工程，扫描 src/ 下所有 .py 文件、 找出含 TODO 注释的行，输出到 todos.md。</a:t>
            </a:r>
            <a:endParaRPr lang="en-US" sz="975" dirty="0"/>
          </a:p>
        </p:txBody>
      </p:sp>
      <p:sp>
        <p:nvSpPr>
          <p:cNvPr id="35" name="Text 32"/>
          <p:cNvSpPr txBox="1"/>
          <p:nvPr/>
        </p:nvSpPr>
        <p:spPr>
          <a:xfrm>
            <a:off x="6972300" y="4777740"/>
            <a:ext cx="36960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最多 6 步；每步可读 / 写 / 搜索；任务结束返回 markdown。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6972300" y="5372100"/>
            <a:ext cx="41632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 → Plan → Act → Observe → Finalize · 标准 Agent Loop。</a:t>
            </a:r>
            <a:endParaRPr lang="en-US" sz="975" dirty="0"/>
          </a:p>
        </p:txBody>
      </p:sp>
      <p:sp>
        <p:nvSpPr>
          <p:cNvPr id="37" name="Text 34"/>
          <p:cNvSpPr txBox="1"/>
          <p:nvPr/>
        </p:nvSpPr>
        <p:spPr>
          <a:xfrm>
            <a:off x="12497105" y="2915107"/>
            <a:ext cx="49917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新手三坑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2497105" y="3133649"/>
            <a:ext cx="49917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skill 与第一版的技术妥协</a:t>
            </a:r>
            <a:endParaRPr lang="en-US" sz="2250" dirty="0"/>
          </a:p>
        </p:txBody>
      </p:sp>
      <p:sp>
        <p:nvSpPr>
          <p:cNvPr id="39" name="Shape 36"/>
          <p:cNvSpPr/>
          <p:nvPr/>
        </p:nvSpPr>
        <p:spPr>
          <a:xfrm>
            <a:off x="12497105" y="3700577"/>
            <a:ext cx="4990795" cy="8860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2678156" y="3843223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坑 1</a:t>
            </a:r>
            <a:endParaRPr lang="en-US" sz="825" dirty="0"/>
          </a:p>
        </p:txBody>
      </p:sp>
      <p:sp>
        <p:nvSpPr>
          <p:cNvPr id="41" name="Text 38"/>
          <p:cNvSpPr txBox="1"/>
          <p:nvPr/>
        </p:nvSpPr>
        <p:spPr>
          <a:xfrm>
            <a:off x="12678156" y="4033418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工具直接传函数，没限定 Schema</a:t>
            </a:r>
            <a:endParaRPr lang="en-US" sz="1275" dirty="0"/>
          </a:p>
        </p:txBody>
      </p:sp>
      <p:sp>
        <p:nvSpPr>
          <p:cNvPr id="42" name="Text 39"/>
          <p:cNvSpPr txBox="1"/>
          <p:nvPr/>
        </p:nvSpPr>
        <p:spPr>
          <a:xfrm>
            <a:off x="12678156" y="4273906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参数结构化 + JSON Schema，第一版就先做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2497105" y="4693615"/>
            <a:ext cx="4990795" cy="8860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2678156" y="4836262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坑 2</a:t>
            </a:r>
            <a:endParaRPr lang="en-US" sz="825" dirty="0"/>
          </a:p>
        </p:txBody>
      </p:sp>
      <p:sp>
        <p:nvSpPr>
          <p:cNvPr id="45" name="Text 42"/>
          <p:cNvSpPr txBox="1"/>
          <p:nvPr/>
        </p:nvSpPr>
        <p:spPr>
          <a:xfrm>
            <a:off x="12678156" y="5026457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没设最大步数 / 退出条件</a:t>
            </a:r>
            <a:endParaRPr lang="en-US" sz="1275" dirty="0"/>
          </a:p>
        </p:txBody>
      </p:sp>
      <p:sp>
        <p:nvSpPr>
          <p:cNvPr id="46" name="Text 43"/>
          <p:cNvSpPr txBox="1"/>
          <p:nvPr/>
        </p:nvSpPr>
        <p:spPr>
          <a:xfrm>
            <a:off x="12678156" y="5266944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Loop 跑死 — 永远先写 max_steps + termination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2497105" y="5686654"/>
            <a:ext cx="4990795" cy="88605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2678156" y="5829300"/>
            <a:ext cx="46296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坑 3</a:t>
            </a:r>
            <a:endParaRPr lang="en-US" sz="825" dirty="0"/>
          </a:p>
        </p:txBody>
      </p:sp>
      <p:sp>
        <p:nvSpPr>
          <p:cNvPr id="49" name="Text 46"/>
          <p:cNvSpPr txBox="1"/>
          <p:nvPr/>
        </p:nvSpPr>
        <p:spPr>
          <a:xfrm>
            <a:off x="12678156" y="6019495"/>
            <a:ext cx="46296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没把 trace 落地，跑完了看不到</a:t>
            </a:r>
            <a:endParaRPr lang="en-US" sz="1275" dirty="0"/>
          </a:p>
        </p:txBody>
      </p:sp>
      <p:sp>
        <p:nvSpPr>
          <p:cNvPr id="50" name="Text 47"/>
          <p:cNvSpPr txBox="1"/>
          <p:nvPr/>
        </p:nvSpPr>
        <p:spPr>
          <a:xfrm>
            <a:off x="12678156" y="6259982"/>
            <a:ext cx="46296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第一版就把每步输入 / 输出 / 时间 / 状态记录到 trace.jsonl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1067105" y="8683142"/>
            <a:ext cx="90708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出场</a:t>
            </a:r>
            <a:endParaRPr lang="en-US" sz="825" dirty="0"/>
          </a:p>
        </p:txBody>
      </p:sp>
      <p:sp>
        <p:nvSpPr>
          <p:cNvPr id="52" name="Text 49"/>
          <p:cNvSpPr txBox="1"/>
          <p:nvPr/>
        </p:nvSpPr>
        <p:spPr>
          <a:xfrm>
            <a:off x="2095805" y="8610905"/>
            <a:ext cx="1005565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跑动不等于能交付。第一版拿来"知道 Loop 长什么样"，下一站用 Codex 源码把它变"能复用"。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761695" y="9696298"/>
            <a:ext cx="3721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1260958" y="9696298"/>
            <a:ext cx="71350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· tools · termination · schema-required · tools-white-only · always-trace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11220602" y="96962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17065447" y="9706356"/>
            <a:ext cx="55595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67305"/>
            <a:ext cx="5333695" cy="2704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67305"/>
            <a:ext cx="5333695" cy="38405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6695" y="2667305"/>
            <a:ext cx="5333695" cy="27047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6476695" y="2667305"/>
            <a:ext cx="5333695" cy="38405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191695" y="2667305"/>
            <a:ext cx="5333695" cy="2667305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5715000"/>
            <a:ext cx="5352898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6695" y="5715000"/>
            <a:ext cx="5352898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191695" y="5715000"/>
            <a:ext cx="5352898" cy="249539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gen-dedup-49c4d8f704cf1c3243d47abf2af7cae2.png"/>
          <p:cNvPicPr>
            <a:picLocks noChangeAspect="1"/>
          </p:cNvPicPr>
          <p:nvPr/>
        </p:nvPicPr>
        <p:blipFill>
          <a:blip r:embed="rId4"/>
          <a:srcRect l="-406" r="-406"/>
          <a:stretch/>
        </p:blipFill>
        <p:spPr>
          <a:xfrm>
            <a:off x="761695" y="5715000"/>
            <a:ext cx="38405" cy="2476195"/>
          </a:xfrm>
          <a:prstGeom prst="rect">
            <a:avLst/>
          </a:prstGeom>
        </p:spPr>
      </p:pic>
      <p:pic>
        <p:nvPicPr>
          <p:cNvPr id="12" name="Image 2" descr="gen-dedup-99b54b26912d68e0da17c8aa26ee31e6.png"/>
          <p:cNvPicPr>
            <a:picLocks noChangeAspect="1"/>
          </p:cNvPicPr>
          <p:nvPr/>
        </p:nvPicPr>
        <p:blipFill>
          <a:blip r:embed="rId5"/>
          <a:srcRect l="-406" r="-406"/>
          <a:stretch/>
        </p:blipFill>
        <p:spPr>
          <a:xfrm>
            <a:off x="6476695" y="5715000"/>
            <a:ext cx="38405" cy="2476195"/>
          </a:xfrm>
          <a:prstGeom prst="rect">
            <a:avLst/>
          </a:prstGeom>
        </p:spPr>
      </p:pic>
      <p:pic>
        <p:nvPicPr>
          <p:cNvPr id="13" name="Image 3" descr="gen-dedup-ec07728368d7588992ecd1921da9269a.png"/>
          <p:cNvPicPr>
            <a:picLocks noChangeAspect="1"/>
          </p:cNvPicPr>
          <p:nvPr/>
        </p:nvPicPr>
        <p:blipFill>
          <a:blip r:embed="rId6"/>
          <a:srcRect l="-406" r="-406"/>
          <a:stretch/>
        </p:blipFill>
        <p:spPr>
          <a:xfrm>
            <a:off x="12191695" y="5715000"/>
            <a:ext cx="38405" cy="2476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1695" y="571500"/>
            <a:ext cx="344911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REFINE · Codex / LangGraph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9742018" y="571500"/>
            <a:ext cx="819759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Endpoint · Tool Schema · Checkpoint+Replay · Three Pieces to Lift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借助 Codex 源码，改善你的 Agent Loop</a:t>
            </a:r>
            <a:endParaRPr lang="en-US" sz="345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生产级 Loop 怎么写 — 去开源 Codex / LangGraph / 自家 Harness 里看三条具体零件。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028700" y="289590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你的 v1</a:t>
            </a:r>
            <a:endParaRPr lang="en-US" sz="825" dirty="0"/>
          </a:p>
        </p:txBody>
      </p:sp>
      <p:sp>
        <p:nvSpPr>
          <p:cNvPr id="19" name="Text 13"/>
          <p:cNvSpPr txBox="1"/>
          <p:nvPr/>
        </p:nvSpPr>
        <p:spPr>
          <a:xfrm>
            <a:off x="1028700" y="3124505"/>
            <a:ext cx="533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功能是有的 · 形状不对</a:t>
            </a:r>
            <a:endParaRPr lang="en-US" sz="2250" dirty="0"/>
          </a:p>
        </p:txBody>
      </p:sp>
      <p:sp>
        <p:nvSpPr>
          <p:cNvPr id="20" name="Text 14"/>
          <p:cNvSpPr txBox="1"/>
          <p:nvPr/>
        </p:nvSpPr>
        <p:spPr>
          <a:xfrm>
            <a:off x="1028700" y="3583534"/>
            <a:ext cx="5334610" cy="88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工具直接写在 prompt 里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没 schema 校验 · 状态散落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失败靠 retry · 看不到过程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没 Test · 没 Eval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6743700" y="2895905"/>
            <a:ext cx="5334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/ LangGraph · v N</a:t>
            </a:r>
            <a:endParaRPr lang="en-US" sz="825" dirty="0"/>
          </a:p>
        </p:txBody>
      </p:sp>
      <p:sp>
        <p:nvSpPr>
          <p:cNvPr id="22" name="Text 16"/>
          <p:cNvSpPr txBox="1"/>
          <p:nvPr/>
        </p:nvSpPr>
        <p:spPr>
          <a:xfrm>
            <a:off x="6743700" y="3105302"/>
            <a:ext cx="533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 + 状态 + 校验 · 三件套</a:t>
            </a:r>
            <a:endParaRPr lang="en-US" sz="2250" dirty="0"/>
          </a:p>
        </p:txBody>
      </p:sp>
      <p:sp>
        <p:nvSpPr>
          <p:cNvPr id="23" name="Text 17"/>
          <p:cNvSpPr txBox="1"/>
          <p:nvPr/>
        </p:nvSpPr>
        <p:spPr>
          <a:xfrm>
            <a:off x="6743700" y="3564331"/>
            <a:ext cx="5334610" cy="88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Tool Registry · JSON Schema 校验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State Machine + Checkpoint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Trace / Replay / 时延治理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Eval Dataset · LLM-as-Judge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2458700" y="3124505"/>
            <a:ext cx="5334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条具体零件 · 你可直接抄</a:t>
            </a:r>
            <a:endParaRPr lang="en-US" sz="2250" dirty="0"/>
          </a:p>
        </p:txBody>
      </p:sp>
      <p:sp>
        <p:nvSpPr>
          <p:cNvPr id="25" name="Text 19"/>
          <p:cNvSpPr txBox="1"/>
          <p:nvPr/>
        </p:nvSpPr>
        <p:spPr>
          <a:xfrm>
            <a:off x="12458700" y="3583534"/>
            <a:ext cx="5334610" cy="674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Loop 的退出条件 · max_steps + token / cost 预算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工具 Schema 校验 + Structured Output 反喂修正</a:t>
            </a:r>
            <a:endParaRPr lang="en-US" sz="10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State Snapshot · 失败可恢复 + 可重放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2458700" y="289590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本次收购</a:t>
            </a:r>
            <a:endParaRPr lang="en-US" sz="825" dirty="0"/>
          </a:p>
        </p:txBody>
      </p:sp>
      <p:sp>
        <p:nvSpPr>
          <p:cNvPr id="27" name="Text 21"/>
          <p:cNvSpPr txBox="1"/>
          <p:nvPr/>
        </p:nvSpPr>
        <p:spPr>
          <a:xfrm>
            <a:off x="1009498" y="5924398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F4E7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250" dirty="0"/>
          </a:p>
        </p:txBody>
      </p:sp>
      <p:sp>
        <p:nvSpPr>
          <p:cNvPr id="28" name="Text 22"/>
          <p:cNvSpPr txBox="1"/>
          <p:nvPr/>
        </p:nvSpPr>
        <p:spPr>
          <a:xfrm>
            <a:off x="1430122" y="5982005"/>
            <a:ext cx="39593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Loop 退出条件 · max_steps + 成本预算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009498" y="6319418"/>
            <a:ext cx="499171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单次 ≤ N · 全局 cost / token 设阈值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看 Codex 源码：run_streamed(...) 里有 max_turns + budget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LangGraph：conditional_edge + interrupt 决定出口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1009498" y="7033565"/>
            <a:ext cx="4991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4E7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step &gt; MAX_STEPS or cost &gt; BUDGET: return state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724498" y="5924398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766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250" dirty="0"/>
          </a:p>
        </p:txBody>
      </p:sp>
      <p:sp>
        <p:nvSpPr>
          <p:cNvPr id="32" name="Text 26"/>
          <p:cNvSpPr txBox="1"/>
          <p:nvPr/>
        </p:nvSpPr>
        <p:spPr>
          <a:xfrm>
            <a:off x="7145122" y="5982005"/>
            <a:ext cx="31290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工具 Schema · 校验 + 反喂修正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724498" y="6319418"/>
            <a:ext cx="499171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每个 tool 都有 input / output / error 三段 schema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JSON 校验失败时把错误反喂给模型自修正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Codex 源码：tool_input_schema + error 字段强提示</a:t>
            </a:r>
            <a:endParaRPr lang="en-US" sz="975" dirty="0"/>
          </a:p>
        </p:txBody>
      </p:sp>
      <p:sp>
        <p:nvSpPr>
          <p:cNvPr id="34" name="Text 28"/>
          <p:cNvSpPr txBox="1"/>
          <p:nvPr/>
        </p:nvSpPr>
        <p:spPr>
          <a:xfrm>
            <a:off x="6724498" y="7033565"/>
            <a:ext cx="4991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validate(args); if err: re_prompt("fix:" + err)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12439498" y="5924398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4530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250" dirty="0"/>
          </a:p>
        </p:txBody>
      </p:sp>
      <p:sp>
        <p:nvSpPr>
          <p:cNvPr id="36" name="Text 30"/>
          <p:cNvSpPr txBox="1"/>
          <p:nvPr/>
        </p:nvSpPr>
        <p:spPr>
          <a:xfrm>
            <a:off x="12860122" y="5982005"/>
            <a:ext cx="39812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Checkpoint + Replay · 关掉终端还能跑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12439498" y="6319418"/>
            <a:ext cx="499171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每步把 state_snapshot 持久化（JSON / sqlite）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跑到一半崩溃能 resume · trace 反向可重放</a:t>
            </a:r>
            <a:endParaRPr lang="en-US" sz="975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LangGraph：thread_id + checkpointer 即这套</a:t>
            </a:r>
            <a:endParaRPr lang="en-US" sz="975" dirty="0"/>
          </a:p>
        </p:txBody>
      </p:sp>
      <p:sp>
        <p:nvSpPr>
          <p:cNvPr id="38" name="Text 32"/>
          <p:cNvSpPr txBox="1"/>
          <p:nvPr/>
        </p:nvSpPr>
        <p:spPr>
          <a:xfrm>
            <a:off x="12439498" y="7033565"/>
            <a:ext cx="49917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snapshot(state); persist(); replay(thread_id)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761695" y="8382305"/>
            <a:ext cx="16763695" cy="724205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1009498" y="8663940"/>
            <a:ext cx="90982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出场</a:t>
            </a:r>
            <a:endParaRPr lang="en-US" sz="825" dirty="0"/>
          </a:p>
        </p:txBody>
      </p:sp>
      <p:sp>
        <p:nvSpPr>
          <p:cNvPr id="41" name="Text 35"/>
          <p:cNvSpPr txBox="1"/>
          <p:nvPr/>
        </p:nvSpPr>
        <p:spPr>
          <a:xfrm>
            <a:off x="1983334" y="8591702"/>
            <a:ext cx="858987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可以复用 = 升级完成。带着 3 件套进入 Step 3，把 Codex 变成日常调试工具。</a:t>
            </a:r>
            <a:endParaRPr lang="en-US" sz="1800" dirty="0"/>
          </a:p>
        </p:txBody>
      </p:sp>
      <p:sp>
        <p:nvSpPr>
          <p:cNvPr id="42" name="Text 36"/>
          <p:cNvSpPr txBox="1"/>
          <p:nvPr/>
        </p:nvSpPr>
        <p:spPr>
          <a:xfrm>
            <a:off x="761695" y="9696298"/>
            <a:ext cx="6483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UPGRADE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1535278" y="9696298"/>
            <a:ext cx="76873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step &gt; MAX: return · validate(args, re_prompt) · snapshot(state, persist, replay)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11650370" y="9696298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17101109" y="9706356"/>
            <a:ext cx="51023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667305"/>
            <a:ext cx="10325405" cy="5715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" name="Shape 1"/>
          <p:cNvSpPr/>
          <p:nvPr/>
        </p:nvSpPr>
        <p:spPr>
          <a:xfrm>
            <a:off x="761695" y="2667305"/>
            <a:ext cx="38405" cy="5715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0" y="2667305"/>
            <a:ext cx="6133795" cy="5715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0" y="2667305"/>
            <a:ext cx="38405" cy="5715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" y="571500"/>
            <a:ext cx="29809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DEBUG · Codex as Idiom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66276" y="571500"/>
            <a:ext cx="87773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→ repro → patch → eval · Codex is your Senior Debug Pair, not Chatbot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143000"/>
            <a:ext cx="16764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69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借助 Codex 调试你的代码</a:t>
            </a:r>
            <a:endParaRPr lang="en-US" sz="345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904695"/>
            <a:ext cx="1676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 trace · 复现 bug · 加 test · 出 patch — Codex 不是聊天，是你的资深调试同事。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067105" y="2915107"/>
            <a:ext cx="9715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四工序 · 调试闭环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67105" y="3152851"/>
            <a:ext cx="97155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用 Codex 把"线上踩坑"变成可复现工程问题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67105" y="3657600"/>
            <a:ext cx="477225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48156" y="3800246"/>
            <a:ext cx="4410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工序 1 · 读 trace</a:t>
            </a:r>
            <a:endParaRPr lang="en-US" sz="825" dirty="0"/>
          </a:p>
        </p:txBody>
      </p:sp>
      <p:sp>
        <p:nvSpPr>
          <p:cNvPr id="15" name="Text 12"/>
          <p:cNvSpPr txBox="1"/>
          <p:nvPr/>
        </p:nvSpPr>
        <p:spPr>
          <a:xfrm>
            <a:off x="1248156" y="3991356"/>
            <a:ext cx="4410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把 trace.jsonl 丢给 Codex</a:t>
            </a:r>
            <a:endParaRPr lang="en-US" sz="1275" dirty="0"/>
          </a:p>
        </p:txBody>
      </p:sp>
      <p:sp>
        <p:nvSpPr>
          <p:cNvPr id="16" name="Text 13"/>
          <p:cNvSpPr txBox="1"/>
          <p:nvPr/>
        </p:nvSpPr>
        <p:spPr>
          <a:xfrm>
            <a:off x="1248156" y="4250131"/>
            <a:ext cx="44101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让它读 step 输入 / 输出 / 错误，定位第一次偏离目标的 step。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10351" y="3657600"/>
            <a:ext cx="477225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91402" y="3800246"/>
            <a:ext cx="4410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工序 2 · 写复现</a:t>
            </a:r>
            <a:endParaRPr lang="en-US" sz="825" dirty="0"/>
          </a:p>
        </p:txBody>
      </p:sp>
      <p:sp>
        <p:nvSpPr>
          <p:cNvPr id="19" name="Text 16"/>
          <p:cNvSpPr txBox="1"/>
          <p:nvPr/>
        </p:nvSpPr>
        <p:spPr>
          <a:xfrm>
            <a:off x="6191402" y="3991356"/>
            <a:ext cx="4410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让 Codex 写最小复现 · 1 个 test</a:t>
            </a:r>
            <a:endParaRPr lang="en-US" sz="1275" dirty="0"/>
          </a:p>
        </p:txBody>
      </p:sp>
      <p:sp>
        <p:nvSpPr>
          <p:cNvPr id="20" name="Text 17"/>
          <p:cNvSpPr txBox="1"/>
          <p:nvPr/>
        </p:nvSpPr>
        <p:spPr>
          <a:xfrm>
            <a:off x="6191402" y="4250131"/>
            <a:ext cx="44101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用"先失败"代替"感觉是这里坏了"。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67105" y="4698187"/>
            <a:ext cx="477225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48156" y="4840834"/>
            <a:ext cx="4410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工序 3 · 出 patch</a:t>
            </a:r>
            <a:endParaRPr lang="en-US" sz="825" dirty="0"/>
          </a:p>
        </p:txBody>
      </p:sp>
      <p:sp>
        <p:nvSpPr>
          <p:cNvPr id="23" name="Text 20"/>
          <p:cNvSpPr txBox="1"/>
          <p:nvPr/>
        </p:nvSpPr>
        <p:spPr>
          <a:xfrm>
            <a:off x="1248156" y="5031943"/>
            <a:ext cx="441015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Codex 改源码 · 我评审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248156" y="5290718"/>
            <a:ext cx="44101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写 patch · 你做 review · apply_patch 必须在白名单里。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10351" y="4698187"/>
            <a:ext cx="477225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81344" y="5021885"/>
            <a:ext cx="44293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 跑 + Eval · 截图存档</a:t>
            </a:r>
            <a:endParaRPr lang="en-US" sz="1275" dirty="0"/>
          </a:p>
        </p:txBody>
      </p:sp>
      <p:sp>
        <p:nvSpPr>
          <p:cNvPr id="27" name="Text 24"/>
          <p:cNvSpPr txBox="1"/>
          <p:nvPr/>
        </p:nvSpPr>
        <p:spPr>
          <a:xfrm>
            <a:off x="6181344" y="5281574"/>
            <a:ext cx="44293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这条 bug 进了 Golden Dataset · 下次不会犯。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67105" y="5833872"/>
            <a:ext cx="9715500" cy="905256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38098" y="5986577"/>
            <a:ext cx="93726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Codex 工作的样子（伪代码）</a:t>
            </a:r>
            <a:endParaRPr lang="en-US" sz="975" dirty="0"/>
          </a:p>
        </p:txBody>
      </p:sp>
      <p:sp>
        <p:nvSpPr>
          <p:cNvPr id="30" name="Text 27"/>
          <p:cNvSpPr txBox="1"/>
          <p:nvPr/>
        </p:nvSpPr>
        <p:spPr>
          <a:xfrm>
            <a:off x="1238098" y="6194146"/>
            <a:ext cx="535381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 run "read trace.jsonl → locate failing step → write repro test →</a:t>
            </a:r>
            <a:endParaRPr lang="en-US" sz="975" dirty="0"/>
          </a:p>
        </p:txBody>
      </p:sp>
      <p:sp>
        <p:nvSpPr>
          <p:cNvPr id="31" name="Text 28"/>
          <p:cNvSpPr txBox="1"/>
          <p:nvPr/>
        </p:nvSpPr>
        <p:spPr>
          <a:xfrm>
            <a:off x="1238098" y="6392570"/>
            <a:ext cx="25054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 src/loop.py → rerun pytest"</a:t>
            </a:r>
            <a:endParaRPr lang="en-US" sz="975" dirty="0"/>
          </a:p>
        </p:txBody>
      </p:sp>
      <p:sp>
        <p:nvSpPr>
          <p:cNvPr id="32" name="Text 29"/>
          <p:cNvSpPr txBox="1"/>
          <p:nvPr/>
        </p:nvSpPr>
        <p:spPr>
          <a:xfrm>
            <a:off x="6181344" y="4831690"/>
            <a:ext cx="44293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工序 4 · 回归</a:t>
            </a:r>
            <a:endParaRPr lang="en-US" sz="825" dirty="0"/>
          </a:p>
        </p:txBody>
      </p:sp>
      <p:sp>
        <p:nvSpPr>
          <p:cNvPr id="33" name="Text 30"/>
          <p:cNvSpPr txBox="1"/>
          <p:nvPr/>
        </p:nvSpPr>
        <p:spPr>
          <a:xfrm>
            <a:off x="11734495" y="2915107"/>
            <a:ext cx="57534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Codex 擅长 / 不擅长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734495" y="3152851"/>
            <a:ext cx="57534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把它丢给对的 bug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1734495" y="3575304"/>
            <a:ext cx="5753405" cy="12097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878056" y="3699662"/>
            <a:ext cx="54681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擅长 · 4 类</a:t>
            </a:r>
            <a:endParaRPr lang="en-US" sz="825" dirty="0"/>
          </a:p>
        </p:txBody>
      </p:sp>
      <p:sp>
        <p:nvSpPr>
          <p:cNvPr id="37" name="Text 34"/>
          <p:cNvSpPr txBox="1"/>
          <p:nvPr/>
        </p:nvSpPr>
        <p:spPr>
          <a:xfrm>
            <a:off x="11878056" y="3867912"/>
            <a:ext cx="5468112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字段类型 / Schema 不匹配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Loop 卡死 · 状态推进不到位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工具参数错传 · 序列化失败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Prompt 注入 / 输出格式漂移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1734495" y="4876495"/>
            <a:ext cx="5753405" cy="10195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1878056" y="4999939"/>
            <a:ext cx="54681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不擅长</a:t>
            </a:r>
            <a:endParaRPr lang="en-US" sz="825" dirty="0"/>
          </a:p>
        </p:txBody>
      </p:sp>
      <p:sp>
        <p:nvSpPr>
          <p:cNvPr id="40" name="Text 37"/>
          <p:cNvSpPr txBox="1"/>
          <p:nvPr/>
        </p:nvSpPr>
        <p:spPr>
          <a:xfrm>
            <a:off x="11878056" y="5169103"/>
            <a:ext cx="5468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业务/产品层面的需求判断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跨服务链路下的性能归因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涉及 PII / 合规的灰区决策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1734495" y="5985662"/>
            <a:ext cx="5753405" cy="82844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78056" y="6109106"/>
            <a:ext cx="54681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门禁</a:t>
            </a:r>
            <a:endParaRPr lang="en-US" sz="825" dirty="0"/>
          </a:p>
        </p:txBody>
      </p:sp>
      <p:sp>
        <p:nvSpPr>
          <p:cNvPr id="43" name="Text 40"/>
          <p:cNvSpPr txBox="1"/>
          <p:nvPr/>
        </p:nvSpPr>
        <p:spPr>
          <a:xfrm>
            <a:off x="11878056" y="6277356"/>
            <a:ext cx="5468112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写文件必须白名单 · 删文件一律禁止</a:t>
            </a:r>
            <a:endParaRPr lang="en-US" sz="975" dirty="0"/>
          </a:p>
          <a:p>
            <a:pPr marL="0" indent="0" algn="l">
              <a:lnSpc>
                <a:spcPts val="1511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网络 / shell 命令走审批 · test 必须先过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761695" y="8382305"/>
            <a:ext cx="16763695" cy="724205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9498" y="8663940"/>
            <a:ext cx="90982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出场</a:t>
            </a:r>
            <a:endParaRPr lang="en-US" sz="825" dirty="0"/>
          </a:p>
        </p:txBody>
      </p:sp>
      <p:sp>
        <p:nvSpPr>
          <p:cNvPr id="46" name="Text 43"/>
          <p:cNvSpPr txBox="1"/>
          <p:nvPr/>
        </p:nvSpPr>
        <p:spPr>
          <a:xfrm>
            <a:off x="1985162" y="8591702"/>
            <a:ext cx="103537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Codex 是调试同事，不是 chat 盒子 —— 把它接到 trace + test + patch 上，才能算作你的 IDE。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761695" y="9724644"/>
            <a:ext cx="3721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260958" y="9696298"/>
            <a:ext cx="77440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scope(read) → human-in-loop(if write) · golden-dataset regression · trace-on-failure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1527841" y="9724644"/>
            <a:ext cx="30202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7070934" y="9734702"/>
            <a:ext cx="5440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695" y="2857500"/>
            <a:ext cx="5333695" cy="6286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76695" y="2857500"/>
            <a:ext cx="5333695" cy="6286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191695" y="2857500"/>
            <a:ext cx="5333695" cy="62865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f2377ff0a0af8d6dfefe60c0a0a901f9.png"/>
          <p:cNvPicPr>
            <a:picLocks noChangeAspect="1"/>
          </p:cNvPicPr>
          <p:nvPr/>
        </p:nvPicPr>
        <p:blipFill>
          <a:blip r:embed="rId4"/>
          <a:srcRect t="-403" b="-403"/>
          <a:stretch/>
        </p:blipFill>
        <p:spPr>
          <a:xfrm>
            <a:off x="761695" y="2857500"/>
            <a:ext cx="5333695" cy="57607"/>
          </a:xfrm>
          <a:prstGeom prst="rect">
            <a:avLst/>
          </a:prstGeom>
        </p:spPr>
      </p:pic>
      <p:pic>
        <p:nvPicPr>
          <p:cNvPr id="7" name="Image 2" descr="gen-dedup-f189d474e4f59fa9622b54ff8a8a5d0f.png"/>
          <p:cNvPicPr>
            <a:picLocks noChangeAspect="1"/>
          </p:cNvPicPr>
          <p:nvPr/>
        </p:nvPicPr>
        <p:blipFill>
          <a:blip r:embed="rId5"/>
          <a:srcRect t="-403" b="-403"/>
          <a:stretch/>
        </p:blipFill>
        <p:spPr>
          <a:xfrm>
            <a:off x="6476695" y="2857500"/>
            <a:ext cx="5333695" cy="57607"/>
          </a:xfrm>
          <a:prstGeom prst="rect">
            <a:avLst/>
          </a:prstGeom>
        </p:spPr>
      </p:pic>
      <p:pic>
        <p:nvPicPr>
          <p:cNvPr id="8" name="Image 3" descr="gen-dedup-f4115ee16b6aec878e6f3a8cad91f5a8.png"/>
          <p:cNvPicPr>
            <a:picLocks noChangeAspect="1"/>
          </p:cNvPicPr>
          <p:nvPr/>
        </p:nvPicPr>
        <p:blipFill>
          <a:blip r:embed="rId6"/>
          <a:srcRect t="-403" b="-403"/>
          <a:stretch/>
        </p:blipFill>
        <p:spPr>
          <a:xfrm>
            <a:off x="12191695" y="2857500"/>
            <a:ext cx="5333695" cy="576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61695" y="571500"/>
            <a:ext cx="286481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FORMAT · Three Tracks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10489082" y="571500"/>
            <a:ext cx="750265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Coding · On-demand · 24h Office-Hours · 14 Weeks / 60 Hours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181405"/>
            <a:ext cx="16764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三种学习形式 · 让你跟得上、做得出、问得透</a:t>
            </a:r>
            <a:endParaRPr lang="en-US" sz="375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2076602"/>
            <a:ext cx="1676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及时解决问题 / 视频反复回看 / 兜底答疑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04595" y="339059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01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104595" y="3638398"/>
            <a:ext cx="5334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直播</a:t>
            </a:r>
            <a:endParaRPr lang="en-US" sz="3900" dirty="0"/>
          </a:p>
        </p:txBody>
      </p:sp>
      <p:sp>
        <p:nvSpPr>
          <p:cNvPr id="15" name="Text 9"/>
          <p:cNvSpPr txBox="1"/>
          <p:nvPr/>
        </p:nvSpPr>
        <p:spPr>
          <a:xfrm>
            <a:off x="1104595" y="4215384"/>
            <a:ext cx="5334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现场答疑</a:t>
            </a:r>
            <a:endParaRPr lang="en-US" sz="1275" dirty="0"/>
          </a:p>
        </p:txBody>
      </p:sp>
      <p:sp>
        <p:nvSpPr>
          <p:cNvPr id="16" name="Text 10"/>
          <p:cNvSpPr txBox="1"/>
          <p:nvPr/>
        </p:nvSpPr>
        <p:spPr>
          <a:xfrm>
            <a:off x="1104595" y="466344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每周一次，直播答疑、串讲。现场演示课程中那些疑难问题</a:t>
            </a:r>
            <a:endParaRPr lang="en-US" sz="1275" dirty="0"/>
          </a:p>
        </p:txBody>
      </p:sp>
      <p:sp>
        <p:nvSpPr>
          <p:cNvPr id="17" name="Text 11"/>
          <p:cNvSpPr txBox="1"/>
          <p:nvPr/>
        </p:nvSpPr>
        <p:spPr>
          <a:xfrm>
            <a:off x="1104595" y="5189220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节奏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1104595" y="5465369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每周三 20:00 – 21:30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104595" y="5835701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共 14 周 · 60 分钟现场答疑、串讲环节</a:t>
            </a:r>
            <a:endParaRPr lang="en-US" sz="1275" dirty="0"/>
          </a:p>
        </p:txBody>
      </p:sp>
      <p:sp>
        <p:nvSpPr>
          <p:cNvPr id="20" name="Text 14"/>
          <p:cNvSpPr txBox="1"/>
          <p:nvPr/>
        </p:nvSpPr>
        <p:spPr>
          <a:xfrm>
            <a:off x="1104595" y="6206033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·录播发布时间每周二（一般同开营第一天）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1104595" y="6709867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</a:t>
            </a:r>
            <a:endParaRPr lang="en-US" sz="975" dirty="0"/>
          </a:p>
        </p:txBody>
      </p:sp>
      <p:sp>
        <p:nvSpPr>
          <p:cNvPr id="22" name="Text 16"/>
          <p:cNvSpPr txBox="1"/>
          <p:nvPr/>
        </p:nvSpPr>
        <p:spPr>
          <a:xfrm>
            <a:off x="1104595" y="6986016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学完视频之后，还有困惑需要详细解答和演示的学员。</a:t>
            </a:r>
            <a:endParaRPr lang="en-US" sz="1275" dirty="0"/>
          </a:p>
        </p:txBody>
      </p:sp>
      <p:sp>
        <p:nvSpPr>
          <p:cNvPr id="23" name="Text 17"/>
          <p:cNvSpPr txBox="1"/>
          <p:nvPr/>
        </p:nvSpPr>
        <p:spPr>
          <a:xfrm>
            <a:off x="1104595" y="6244438"/>
            <a:ext cx="101498" cy="19111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6819595" y="339059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02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6819595" y="3638398"/>
            <a:ext cx="5334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录播</a:t>
            </a:r>
            <a:endParaRPr lang="en-US" sz="3900" dirty="0"/>
          </a:p>
        </p:txBody>
      </p:sp>
      <p:sp>
        <p:nvSpPr>
          <p:cNvPr id="26" name="Text 20"/>
          <p:cNvSpPr txBox="1"/>
          <p:nvPr/>
        </p:nvSpPr>
        <p:spPr>
          <a:xfrm>
            <a:off x="6819595" y="4215384"/>
            <a:ext cx="5334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· 操作视频</a:t>
            </a:r>
            <a:endParaRPr lang="en-US" sz="1275" dirty="0"/>
          </a:p>
        </p:txBody>
      </p:sp>
      <p:sp>
        <p:nvSpPr>
          <p:cNvPr id="27" name="Text 21"/>
          <p:cNvSpPr txBox="1"/>
          <p:nvPr/>
        </p:nvSpPr>
        <p:spPr>
          <a:xfrm>
            <a:off x="6819595" y="466344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每周 3-4 小时的学习视频，演示代码的生成过程。</a:t>
            </a:r>
            <a:endParaRPr lang="en-US" sz="1275" dirty="0"/>
          </a:p>
        </p:txBody>
      </p:sp>
      <p:sp>
        <p:nvSpPr>
          <p:cNvPr id="28" name="Text 22"/>
          <p:cNvSpPr txBox="1"/>
          <p:nvPr/>
        </p:nvSpPr>
        <p:spPr>
          <a:xfrm>
            <a:off x="6819595" y="5189220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节奏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6819595" y="5465369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每周二放出本周视频 · 永久可回看 ·</a:t>
            </a:r>
            <a:endParaRPr lang="en-US" sz="1275" dirty="0"/>
          </a:p>
        </p:txBody>
      </p:sp>
      <p:sp>
        <p:nvSpPr>
          <p:cNvPr id="30" name="Text 24"/>
          <p:cNvSpPr txBox="1"/>
          <p:nvPr/>
        </p:nvSpPr>
        <p:spPr>
          <a:xfrm>
            <a:off x="6819595" y="5835701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</a:t>
            </a:r>
            <a:endParaRPr lang="en-US" sz="1275" dirty="0"/>
          </a:p>
        </p:txBody>
      </p:sp>
      <p:sp>
        <p:nvSpPr>
          <p:cNvPr id="31" name="Text 25"/>
          <p:cNvSpPr txBox="1"/>
          <p:nvPr/>
        </p:nvSpPr>
        <p:spPr>
          <a:xfrm>
            <a:off x="6819595" y="6206033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随时学习或周末整段学习的学员。</a:t>
            </a:r>
            <a:endParaRPr lang="en-US" sz="1275" dirty="0"/>
          </a:p>
        </p:txBody>
      </p:sp>
      <p:sp>
        <p:nvSpPr>
          <p:cNvPr id="32" name="Text 26"/>
          <p:cNvSpPr txBox="1"/>
          <p:nvPr/>
        </p:nvSpPr>
        <p:spPr>
          <a:xfrm>
            <a:off x="12534595" y="3390595"/>
            <a:ext cx="533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76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03</a:t>
            </a:r>
            <a:endParaRPr lang="en-US" sz="975" dirty="0"/>
          </a:p>
        </p:txBody>
      </p:sp>
      <p:sp>
        <p:nvSpPr>
          <p:cNvPr id="33" name="Text 27"/>
          <p:cNvSpPr txBox="1"/>
          <p:nvPr/>
        </p:nvSpPr>
        <p:spPr>
          <a:xfrm>
            <a:off x="12534595" y="3638398"/>
            <a:ext cx="5334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答疑</a:t>
            </a:r>
            <a:endParaRPr lang="en-US" sz="3900" dirty="0"/>
          </a:p>
        </p:txBody>
      </p:sp>
      <p:sp>
        <p:nvSpPr>
          <p:cNvPr id="34" name="Text 28"/>
          <p:cNvSpPr txBox="1"/>
          <p:nvPr/>
        </p:nvSpPr>
        <p:spPr>
          <a:xfrm>
            <a:off x="12534595" y="4215384"/>
            <a:ext cx="5334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群内答疑 · 兜底求助</a:t>
            </a:r>
            <a:endParaRPr lang="en-US" sz="1275" dirty="0"/>
          </a:p>
        </p:txBody>
      </p:sp>
      <p:sp>
        <p:nvSpPr>
          <p:cNvPr id="35" name="Text 29"/>
          <p:cNvSpPr txBox="1"/>
          <p:nvPr/>
        </p:nvSpPr>
        <p:spPr>
          <a:xfrm>
            <a:off x="12534595" y="4663440"/>
            <a:ext cx="5334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直播外的所有时间——也有人在。助教 + 学员互助。</a:t>
            </a:r>
            <a:endParaRPr lang="en-US" sz="1275" dirty="0"/>
          </a:p>
        </p:txBody>
      </p:sp>
      <p:sp>
        <p:nvSpPr>
          <p:cNvPr id="36" name="Text 30"/>
          <p:cNvSpPr txBox="1"/>
          <p:nvPr/>
        </p:nvSpPr>
        <p:spPr>
          <a:xfrm>
            <a:off x="12534595" y="5189220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节奏</a:t>
            </a:r>
            <a:endParaRPr lang="en-US" sz="975" dirty="0"/>
          </a:p>
        </p:txBody>
      </p:sp>
      <p:sp>
        <p:nvSpPr>
          <p:cNvPr id="37" name="Text 31"/>
          <p:cNvSpPr txBox="1"/>
          <p:nvPr/>
        </p:nvSpPr>
        <p:spPr>
          <a:xfrm>
            <a:off x="12534595" y="5465369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学员群内工作日必有回应</a:t>
            </a:r>
            <a:endParaRPr lang="en-US" sz="1275" dirty="0"/>
          </a:p>
        </p:txBody>
      </p:sp>
      <p:sp>
        <p:nvSpPr>
          <p:cNvPr id="38" name="Text 32"/>
          <p:cNvSpPr txBox="1"/>
          <p:nvPr/>
        </p:nvSpPr>
        <p:spPr>
          <a:xfrm>
            <a:off x="12534595" y="5835701"/>
            <a:ext cx="5334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解答学习中遇到的各种卡点</a:t>
            </a:r>
            <a:endParaRPr lang="en-US" sz="1275" dirty="0"/>
          </a:p>
        </p:txBody>
      </p:sp>
      <p:sp>
        <p:nvSpPr>
          <p:cNvPr id="39" name="Text 33"/>
          <p:cNvSpPr txBox="1"/>
          <p:nvPr/>
        </p:nvSpPr>
        <p:spPr>
          <a:xfrm>
            <a:off x="12534595" y="633953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适合</a:t>
            </a:r>
            <a:endParaRPr lang="en-US" sz="975" dirty="0"/>
          </a:p>
        </p:txBody>
      </p:sp>
      <p:sp>
        <p:nvSpPr>
          <p:cNvPr id="40" name="Text 34"/>
          <p:cNvSpPr txBox="1"/>
          <p:nvPr/>
        </p:nvSpPr>
        <p:spPr>
          <a:xfrm>
            <a:off x="12534595" y="6615684"/>
            <a:ext cx="5334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卡住的时候不想"等明天"、想马上推进的学员。</a:t>
            </a:r>
            <a:endParaRPr lang="en-US" sz="1275" dirty="0"/>
          </a:p>
        </p:txBody>
      </p:sp>
      <p:sp>
        <p:nvSpPr>
          <p:cNvPr id="41" name="Text 35"/>
          <p:cNvSpPr txBox="1"/>
          <p:nvPr/>
        </p:nvSpPr>
        <p:spPr>
          <a:xfrm>
            <a:off x="761695" y="9639605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CADENCE</a:t>
            </a:r>
            <a:endParaRPr lang="en-US" sz="975" dirty="0"/>
          </a:p>
        </p:txBody>
      </p:sp>
      <p:sp>
        <p:nvSpPr>
          <p:cNvPr id="42" name="Text 36"/>
          <p:cNvSpPr txBox="1"/>
          <p:nvPr/>
        </p:nvSpPr>
        <p:spPr>
          <a:xfrm>
            <a:off x="1415491" y="9620402"/>
            <a:ext cx="391546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SLA · Live ≤ 24h Q&amp;A · On-demand 永久回看 · Cohort 14W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9998964" y="9639605"/>
            <a:ext cx="24579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975" dirty="0"/>
          </a:p>
        </p:txBody>
      </p:sp>
      <p:sp>
        <p:nvSpPr>
          <p:cNvPr id="44" name="Text 38"/>
          <p:cNvSpPr txBox="1"/>
          <p:nvPr/>
        </p:nvSpPr>
        <p:spPr>
          <a:xfrm>
            <a:off x="17121226" y="9648749"/>
            <a:ext cx="59893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13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48496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ef12af5f69bf9e9c4f85cfd6fae8a29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61695" y="933602"/>
            <a:ext cx="16763695" cy="9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695" y="571500"/>
            <a:ext cx="274411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Q&amp;A · Course Wrap-Up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0391242" y="571500"/>
            <a:ext cx="738743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Q&amp;A · Cohort Community · 24h Office-Hours · One Final Loop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829719" y="4815231"/>
            <a:ext cx="6627646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A0A0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Q&amp;A · 把今天的问题问掉</a:t>
            </a:r>
            <a:endParaRPr lang="en-US" sz="4800" dirty="0"/>
          </a:p>
        </p:txBody>
      </p:sp>
      <p:sp>
        <p:nvSpPr>
          <p:cNvPr id="47" name="Text 43"/>
          <p:cNvSpPr txBox="1"/>
          <p:nvPr/>
        </p:nvSpPr>
        <p:spPr>
          <a:xfrm>
            <a:off x="761695" y="9696298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1415491" y="9696298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bring-your-trace · Office-Hours · cohort 14W · community forever</a:t>
            </a:r>
            <a:endParaRPr lang="en-US" sz="975" dirty="0"/>
          </a:p>
        </p:txBody>
      </p:sp>
      <p:sp>
        <p:nvSpPr>
          <p:cNvPr id="49" name="Text 45"/>
          <p:cNvSpPr txBox="1"/>
          <p:nvPr/>
        </p:nvSpPr>
        <p:spPr>
          <a:xfrm>
            <a:off x="10436962" y="9696298"/>
            <a:ext cx="24579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Engineering Platform · v1.0</a:t>
            </a:r>
            <a:endParaRPr lang="en-US" sz="975" dirty="0"/>
          </a:p>
        </p:txBody>
      </p:sp>
      <p:sp>
        <p:nvSpPr>
          <p:cNvPr id="50" name="Text 46"/>
          <p:cNvSpPr txBox="1"/>
          <p:nvPr/>
        </p:nvSpPr>
        <p:spPr>
          <a:xfrm>
            <a:off x="17154144" y="9706356"/>
            <a:ext cx="59527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13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2698</Words>
  <Application>Microsoft Office PowerPoint</Application>
  <PresentationFormat>自定义</PresentationFormat>
  <Paragraphs>503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Inter</vt:lpstr>
      <vt:lpstr>JetBrains Mono</vt:lpstr>
      <vt:lpstr>Source Serif 4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志豪 林</cp:lastModifiedBy>
  <cp:revision>6</cp:revision>
  <dcterms:created xsi:type="dcterms:W3CDTF">2026-08-10T07:36:47Z</dcterms:created>
  <dcterms:modified xsi:type="dcterms:W3CDTF">2026-08-11T05:57:49Z</dcterms:modified>
</cp:coreProperties>
</file>